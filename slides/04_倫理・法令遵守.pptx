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40000"/>
            <a:ext cx="12193200" cy="19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576000"/>
            <a:ext cx="10800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4月　職員研修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484000"/>
            <a:ext cx="11088000" cy="72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4000" b="1">
                <a:solidFill>
                  <a:srgbClr val="1F4E79"/>
                </a:solidFill>
                <a:latin typeface="Yu Gothic"/>
                <a:ea typeface="Yu Gothic"/>
              </a:rPr>
              <a:t>倫理・法令遵守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3528000"/>
            <a:ext cx="11088000" cy="54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2000" b="0">
                <a:solidFill>
                  <a:srgbClr val="222222"/>
                </a:solidFill>
                <a:latin typeface="Yu Gothic"/>
                <a:ea typeface="Yu Gothic"/>
              </a:rPr>
              <a:t>利用者の尊厳を守り、守秘義務を徹底する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4860000"/>
            <a:ext cx="11088000" cy="3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みんなの介護ゆうあい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5400000"/>
            <a:ext cx="11088000" cy="288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EEEEEE"/>
                </a:solidFill>
                <a:latin typeface="Yu Gothic"/>
                <a:ea typeface="Yu Gothic"/>
              </a:rPr>
              <a:t>実施方法：集合研修・個別確認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5760000"/>
            <a:ext cx="11088000" cy="288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200" b="0">
                <a:solidFill>
                  <a:srgbClr val="DDDDDD"/>
                </a:solidFill>
                <a:latin typeface="Yu Gothic"/>
                <a:ea typeface="Yu Gothic"/>
              </a:rPr>
              <a:t>講師：＿＿＿＿＿　　日時：＿＿＿＿＿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90000"/>
            <a:ext cx="8640000" cy="396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本日の目的と到達目標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0000" y="108000"/>
            <a:ext cx="2340000" cy="3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Yu Gothic"/>
                <a:ea typeface="Yu Gothic"/>
              </a:rPr>
              <a:t>4月　みんなの介護ゆうあい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792000"/>
            <a:ext cx="11520000" cy="3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Yu Gothic"/>
                <a:ea typeface="Yu Gothic"/>
              </a:rPr>
              <a:t>この研修が終わったとき、受講者は次ができるようになります。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000" y="1440000"/>
            <a:ext cx="432000" cy="432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000" y="1440000"/>
            <a:ext cx="432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458000"/>
            <a:ext cx="10800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介護職員としての倫理綱領の要点を3つ説明できる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2015999"/>
            <a:ext cx="432000" cy="432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0000" y="2015999"/>
            <a:ext cx="432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000" y="2033999"/>
            <a:ext cx="10800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利用者の尊厳を守る具体的な言動を挙げられる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2591999"/>
            <a:ext cx="432000" cy="432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000" y="2591999"/>
            <a:ext cx="432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6000" y="2609999"/>
            <a:ext cx="10800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守秘義務の対象と違反時の影響を理解している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3167999"/>
            <a:ext cx="432000" cy="432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000" y="3167999"/>
            <a:ext cx="432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  <a:ea typeface="Yu Gothi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6000" y="3186000"/>
            <a:ext cx="10800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ヒヤリ事例を倫理・法令の観点から振り返られる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623999"/>
            <a:ext cx="12193200" cy="216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6000" y="6642000"/>
            <a:ext cx="7200000" cy="18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Yu Gothic"/>
                <a:ea typeface="Yu Gothic"/>
              </a:rPr>
              <a:t>みんなの介護ゆうあい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0" y="6642000"/>
            <a:ext cx="2268000" cy="18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Yu Gothic"/>
                <a:ea typeface="Yu Gothic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90000"/>
            <a:ext cx="8640000" cy="396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1. 介護職員の倫理綱領（日本介護福祉士会）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0000" y="108000"/>
            <a:ext cx="2340000" cy="3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Yu Gothic"/>
                <a:ea typeface="Yu Gothic"/>
              </a:rPr>
              <a:t>4月　みんなの介護ゆうあい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1026000"/>
            <a:ext cx="125999" cy="125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4000" y="864000"/>
            <a:ext cx="11160000" cy="503999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利用者本位の立場に立ち、自立支援を行う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" y="1530000"/>
            <a:ext cx="125999" cy="125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000" y="1368000"/>
            <a:ext cx="11160000" cy="503999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専門的サービスの提供と質の向上に努める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033999"/>
            <a:ext cx="125999" cy="125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4000" y="1871999"/>
            <a:ext cx="11160000" cy="503999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プライバシーの保護と情報の適正管理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2538000"/>
            <a:ext cx="125999" cy="125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000" y="2376000"/>
            <a:ext cx="11160000" cy="503999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総合的サービスを提供するための連携協働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3041999"/>
            <a:ext cx="125999" cy="125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000" y="2880000"/>
            <a:ext cx="11160000" cy="503999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利用者ニーズの代弁と、後継者の育成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5832000"/>
            <a:ext cx="11484000" cy="612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999" y="5886000"/>
            <a:ext cx="11160000" cy="54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Yu Gothic"/>
                <a:ea typeface="Yu Gothic"/>
              </a:rPr>
              <a:t>▶ 倫理綱領は「やってはいけない」ではなく「目指す姿」を示すもの。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3999"/>
            <a:ext cx="12193200" cy="216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6000" y="6642000"/>
            <a:ext cx="7200000" cy="18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Yu Gothic"/>
                <a:ea typeface="Yu Gothic"/>
              </a:rPr>
              <a:t>みんなの介護ゆうあい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00" y="6642000"/>
            <a:ext cx="2268000" cy="18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Yu Gothic"/>
                <a:ea typeface="Yu Gothic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90000"/>
            <a:ext cx="8640000" cy="396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2. 利用者の尊厳を守るとは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0000" y="108000"/>
            <a:ext cx="2340000" cy="3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Yu Gothic"/>
                <a:ea typeface="Yu Gothic"/>
              </a:rPr>
              <a:t>4月　みんなの介護ゆうあい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5580000" cy="39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2000" y="917999"/>
            <a:ext cx="5400000" cy="324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Yu Gothic"/>
                <a:ea typeface="Yu Gothic"/>
              </a:rPr>
              <a:t>尊厳を守る関わり（○）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1260000"/>
            <a:ext cx="5580000" cy="4500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8000" y="1368000"/>
            <a:ext cx="5364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・名前で呼ぶ（○○さん）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000" y="1800000"/>
            <a:ext cx="5364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・ケア前に必ず声かけ・同意確認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2232000"/>
            <a:ext cx="5364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・排泄・入浴時はカーテン・タオルで配慮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2664000"/>
            <a:ext cx="5364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・選択肢を示し、ご本人が決める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3096000"/>
            <a:ext cx="5364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・年齢相応の言葉づかい（敬語）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8000" y="864000"/>
            <a:ext cx="5580000" cy="396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0000" y="917999"/>
            <a:ext cx="5400000" cy="324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Yu Gothic"/>
                <a:ea typeface="Yu Gothic"/>
              </a:rPr>
              <a:t>尊厳を損なう関わり（×）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8000" y="1260000"/>
            <a:ext cx="5580000" cy="4500000"/>
          </a:xfrm>
          <a:prstGeom prst="rect">
            <a:avLst/>
          </a:prstGeom>
          <a:solidFill>
            <a:srgbClr val="FD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000" y="1368000"/>
            <a:ext cx="5364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・ちゃん・あだ名・「おばあちゃん」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000" y="1800000"/>
            <a:ext cx="5364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・無言でケアを始める・身体を動かす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000" y="2232000"/>
            <a:ext cx="5364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・居室のドアを開けたまま排泄介助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000" y="2664000"/>
            <a:ext cx="5364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・「ダメ」「早くして」と否定・急かす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000" y="3096000"/>
            <a:ext cx="5364000" cy="432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・子ども扱いの言葉（タメ口・命令形）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3999"/>
            <a:ext cx="12193200" cy="216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6000" y="6642000"/>
            <a:ext cx="7200000" cy="18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Yu Gothic"/>
                <a:ea typeface="Yu Gothic"/>
              </a:rPr>
              <a:t>みんなの介護ゆうあい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00" y="6642000"/>
            <a:ext cx="2268000" cy="18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Yu Gothic"/>
                <a:ea typeface="Yu Gothic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90000"/>
            <a:ext cx="8640000" cy="396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3. 守秘義務（介護保険法・個人情報保護法）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0000" y="108000"/>
            <a:ext cx="2340000" cy="3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Yu Gothic"/>
                <a:ea typeface="Yu Gothic"/>
              </a:rPr>
              <a:t>4月　みんなの介護ゆうあい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1026000"/>
            <a:ext cx="125999" cy="125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4000" y="864000"/>
            <a:ext cx="11160000" cy="503999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対象：氏名・住所・家族・病名・要介護度・ケア内容 等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" y="1530000"/>
            <a:ext cx="125999" cy="125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000" y="1368000"/>
            <a:ext cx="11160000" cy="503999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在職中だけでなく退職後も守秘義務は継続する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033999"/>
            <a:ext cx="125999" cy="125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4000" y="1871999"/>
            <a:ext cx="11160000" cy="503999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SNS・写真投稿は本人・家族の同意が必要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2538000"/>
            <a:ext cx="125999" cy="125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000" y="2376000"/>
            <a:ext cx="11160000" cy="503999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訪問者や他利用者への情報の漏えいも違反にあたる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3041999"/>
            <a:ext cx="125999" cy="125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000" y="2880000"/>
            <a:ext cx="11160000" cy="503999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違反した場合：懲戒処分・損害賠償・刑事罰の対象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5832000"/>
            <a:ext cx="11484000" cy="612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999" y="5886000"/>
            <a:ext cx="11160000" cy="54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Yu Gothic"/>
                <a:ea typeface="Yu Gothic"/>
              </a:rPr>
              <a:t>▶ 「うっかり話した」も違反。廊下・休憩室・院外での会話に注意。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3999"/>
            <a:ext cx="12193200" cy="216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6000" y="6642000"/>
            <a:ext cx="7200000" cy="18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Yu Gothic"/>
                <a:ea typeface="Yu Gothic"/>
              </a:rPr>
              <a:t>みんなの介護ゆうあい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00" y="6642000"/>
            <a:ext cx="2268000" cy="18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Yu Gothic"/>
                <a:ea typeface="Yu Gothic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90000"/>
            <a:ext cx="8640000" cy="396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4. 事例検討：居酒屋での会話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0000" y="108000"/>
            <a:ext cx="2340000" cy="3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Yu Gothic"/>
                <a:ea typeface="Yu Gothic"/>
              </a:rPr>
              <a:t>4月　みんなの介護ゆうあい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484000" cy="36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000" y="900000"/>
            <a:ext cx="11160000" cy="324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Yu Gothic"/>
                <a:ea typeface="Yu Gothic"/>
              </a:rPr>
              <a:t>事例（グループ討議用）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1260000"/>
            <a:ext cx="11484000" cy="2160000"/>
          </a:xfrm>
          <a:prstGeom prst="rect">
            <a:avLst/>
          </a:prstGeom>
          <a:solidFill>
            <a:srgbClr val="FD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3999" y="1332000"/>
            <a:ext cx="11196000" cy="2088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Yu Gothic"/>
                <a:ea typeface="Yu Gothic"/>
              </a:rPr>
              <a:t>勤務後、同僚2人と居酒屋へ行った。隣席のお客に聞こえる声量で 「今日の○○さん、また失禁しちゃって大変だった」と話した。翌週、その利用者のご家族から施設に「うちの母の話を外でしているのか」と苦情の電話があった。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3600000"/>
            <a:ext cx="11484000" cy="288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Yu Gothic"/>
                <a:ea typeface="Yu Gothic"/>
              </a:rPr>
              <a:t>考えてみましょう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3960000"/>
            <a:ext cx="11196000" cy="396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Q1.　どの行為が守秘義務違反にあたりますか？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4392000"/>
            <a:ext cx="11196000" cy="396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Q2.　同僚と情報共有が必要なときは、どこで・どのように行うべきですか？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4823999"/>
            <a:ext cx="11196000" cy="396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Q3.　自分の施設で起きないようにするために、今日からできる対策を1つ挙げてください。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23999"/>
            <a:ext cx="12193200" cy="216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000" y="6642000"/>
            <a:ext cx="7200000" cy="18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Yu Gothic"/>
                <a:ea typeface="Yu Gothic"/>
              </a:rPr>
              <a:t>みんなの介護ゆうあい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20000" y="6642000"/>
            <a:ext cx="2268000" cy="18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Yu Gothic"/>
                <a:ea typeface="Yu Gothic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90000"/>
            <a:ext cx="8640000" cy="396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5. 関係法令の最低ライン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0000" y="108000"/>
            <a:ext cx="2340000" cy="3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Yu Gothic"/>
                <a:ea typeface="Yu Gothic"/>
              </a:rPr>
              <a:t>4月　みんなの介護ゆうあい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1026000"/>
            <a:ext cx="125999" cy="125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4000" y="864000"/>
            <a:ext cx="11160000" cy="503999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介護保険法（サービス基準・人員配置・記録保存）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" y="1530000"/>
            <a:ext cx="125999" cy="125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4000" y="1368000"/>
            <a:ext cx="11160000" cy="503999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老人福祉法（措置・虐待防止の基本理念）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033999"/>
            <a:ext cx="125999" cy="125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4000" y="1871999"/>
            <a:ext cx="11160000" cy="503999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高齢者虐待防止法（通報義務・早期発見）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000" y="2538000"/>
            <a:ext cx="125999" cy="125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000" y="2376000"/>
            <a:ext cx="11160000" cy="503999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個人情報保護法（取得目的の明示・適正管理）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3041999"/>
            <a:ext cx="125999" cy="125999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000" y="2880000"/>
            <a:ext cx="11160000" cy="503999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Yu Gothic"/>
                <a:ea typeface="Yu Gothic"/>
              </a:rPr>
              <a:t>労働基準法・労働安全衛生法（職員自身を守る）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5832000"/>
            <a:ext cx="11484000" cy="612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999" y="5886000"/>
            <a:ext cx="11160000" cy="54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Yu Gothic"/>
                <a:ea typeface="Yu Gothic"/>
              </a:rPr>
              <a:t>▶ 迷ったら「利用者にとって最善か」「説明できる行為か」で判断する。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3999"/>
            <a:ext cx="12193200" cy="216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6000" y="6642000"/>
            <a:ext cx="7200000" cy="18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Yu Gothic"/>
                <a:ea typeface="Yu Gothic"/>
              </a:rPr>
              <a:t>みんなの介護ゆうあい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00" y="6642000"/>
            <a:ext cx="2268000" cy="18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Yu Gothic"/>
                <a:ea typeface="Yu Gothic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90000"/>
            <a:ext cx="8640000" cy="396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自己チェック（受講後に記入）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0000" y="108000"/>
            <a:ext cx="2340000" cy="3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Yu Gothic"/>
                <a:ea typeface="Yu Gothic"/>
              </a:rPr>
              <a:t>4月　みんなの介護ゆうあい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792000"/>
            <a:ext cx="11520000" cy="3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  <a:latin typeface="Yu Gothic"/>
                <a:ea typeface="Yu Gothic"/>
              </a:rPr>
              <a:t>できている=◎　ときどき=○　できていない=△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40000" y="1296000"/>
            <a:ext cx="1332000" cy="360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40000" y="1350000"/>
            <a:ext cx="1332000" cy="288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ctr"/>
            <a:r>
              <a:rPr sz="1400" b="0">
                <a:solidFill>
                  <a:srgbClr val="1F4E79"/>
                </a:solidFill>
                <a:latin typeface="Yu Gothic"/>
                <a:ea typeface="Yu Gothic"/>
              </a:rPr>
              <a:t>◎ ・ ○ ・ 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1332000"/>
            <a:ext cx="9900000" cy="3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1.　利用者をフルネーム＋「さん」で呼んでいる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10440000" y="1745999"/>
            <a:ext cx="1332000" cy="360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40000" y="1800000"/>
            <a:ext cx="1332000" cy="288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ctr"/>
            <a:r>
              <a:rPr sz="1400" b="0">
                <a:solidFill>
                  <a:srgbClr val="1F4E79"/>
                </a:solidFill>
                <a:latin typeface="Yu Gothic"/>
                <a:ea typeface="Yu Gothic"/>
              </a:rPr>
              <a:t>◎ ・ ○ ・ 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1782000"/>
            <a:ext cx="9900000" cy="3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2.　ケア前に必ず声かけと同意確認をしている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40000" y="2196000"/>
            <a:ext cx="1332000" cy="360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40000" y="2250000"/>
            <a:ext cx="1332000" cy="288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ctr"/>
            <a:r>
              <a:rPr sz="1400" b="0">
                <a:solidFill>
                  <a:srgbClr val="1F4E79"/>
                </a:solidFill>
                <a:latin typeface="Yu Gothic"/>
                <a:ea typeface="Yu Gothic"/>
              </a:rPr>
              <a:t>◎ ・ ○ ・ 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2232000"/>
            <a:ext cx="9900000" cy="3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3.　居室・浴室・トイレでプライバシー配慮ができている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440000" y="2646000"/>
            <a:ext cx="1332000" cy="360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40000" y="2700000"/>
            <a:ext cx="1332000" cy="288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ctr"/>
            <a:r>
              <a:rPr sz="1400" b="0">
                <a:solidFill>
                  <a:srgbClr val="1F4E79"/>
                </a:solidFill>
                <a:latin typeface="Yu Gothic"/>
                <a:ea typeface="Yu Gothic"/>
              </a:rPr>
              <a:t>◎ ・ ○ ・ 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000" y="2682000"/>
            <a:ext cx="9900000" cy="3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4.　家族・利用者情報を施設外で話題にしていない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440000" y="3096000"/>
            <a:ext cx="1332000" cy="360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40000" y="3150000"/>
            <a:ext cx="1332000" cy="288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ctr"/>
            <a:r>
              <a:rPr sz="1400" b="0">
                <a:solidFill>
                  <a:srgbClr val="1F4E79"/>
                </a:solidFill>
                <a:latin typeface="Yu Gothic"/>
                <a:ea typeface="Yu Gothic"/>
              </a:rPr>
              <a:t>◎ ・ ○ ・ 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" y="3131999"/>
            <a:ext cx="9900000" cy="3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5.　SNSに業務に関する投稿をしていない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40000" y="3546000"/>
            <a:ext cx="1332000" cy="360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40000" y="3600000"/>
            <a:ext cx="1332000" cy="288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ctr"/>
            <a:r>
              <a:rPr sz="1400" b="0">
                <a:solidFill>
                  <a:srgbClr val="1F4E79"/>
                </a:solidFill>
                <a:latin typeface="Yu Gothic"/>
                <a:ea typeface="Yu Gothic"/>
              </a:rPr>
              <a:t>◎ ・ ○ ・ 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0000" y="3581999"/>
            <a:ext cx="9900000" cy="3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6.　記録物（ノート・スマホ）を放置せず鍵付き管理している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3999"/>
            <a:ext cx="12193200" cy="216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6000" y="6642000"/>
            <a:ext cx="7200000" cy="18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Yu Gothic"/>
                <a:ea typeface="Yu Gothic"/>
              </a:rPr>
              <a:t>みんなの介護ゆうあい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0000" y="6642000"/>
            <a:ext cx="2268000" cy="18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Yu Gothic"/>
                <a:ea typeface="Yu Gothic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576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6000" y="90000"/>
            <a:ext cx="8640000" cy="396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  <a:ea typeface="Yu Gothic"/>
              </a:rPr>
              <a:t>まとめ・今日から実践すること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0000" y="108000"/>
            <a:ext cx="2340000" cy="3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Yu Gothic"/>
                <a:ea typeface="Yu Gothic"/>
              </a:rPr>
              <a:t>4月　みんなの介護ゆうあい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792000"/>
            <a:ext cx="11520000" cy="3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  <a:latin typeface="Yu Gothic"/>
                <a:ea typeface="Yu Gothic"/>
              </a:rPr>
              <a:t>本日の要点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396000" y="1368000"/>
            <a:ext cx="180000" cy="18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1224000"/>
            <a:ext cx="10980000" cy="468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Yu Gothic"/>
                <a:ea typeface="Yu Gothic"/>
              </a:rPr>
              <a:t>倫理は「目指す姿」、法令は「最低ライン」。両方を意識する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96000" y="1836000"/>
            <a:ext cx="180000" cy="18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1692000"/>
            <a:ext cx="10980000" cy="468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Yu Gothic"/>
                <a:ea typeface="Yu Gothic"/>
              </a:rPr>
              <a:t>尊厳を守る第一歩は『呼び方』と『声かけ』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" y="2304000"/>
            <a:ext cx="180000" cy="18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0000" y="2160000"/>
            <a:ext cx="10980000" cy="468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Yu Gothic"/>
                <a:ea typeface="Yu Gothic"/>
              </a:rPr>
              <a:t>守秘義務は退職後も続く。施設外での会話・SNSに注意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6000" y="2772000"/>
            <a:ext cx="180000" cy="18000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2628000"/>
            <a:ext cx="10980000" cy="468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Yu Gothic"/>
                <a:ea typeface="Yu Gothic"/>
              </a:rPr>
              <a:t>迷ったら上司・相談窓口に確認（ひとりで判断しない）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5040000"/>
            <a:ext cx="11484000" cy="1152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999" y="5112000"/>
            <a:ext cx="11196000" cy="288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Yu Gothic"/>
                <a:ea typeface="Yu Gothic"/>
              </a:rPr>
              <a:t>明日からの行動目標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999" y="5436000"/>
            <a:ext cx="11196000" cy="72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Yu Gothic"/>
                <a:ea typeface="Yu Gothic"/>
              </a:rPr>
              <a:t>① 明日から利用者を「○○さん」と呼び、ケア前の声かけを徹底する。② 休憩室・施設外では利用者の個人情報を話題にしない。③ 気になる事例があったら記録し、次回のカンファレンスで共有する。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3999"/>
            <a:ext cx="12193200" cy="216000"/>
          </a:xfrm>
          <a:prstGeom prst="rect">
            <a:avLst/>
          </a:prstGeom>
          <a:solidFill>
            <a:srgbClr val="E7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6000" y="6642000"/>
            <a:ext cx="7200000" cy="18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Yu Gothic"/>
                <a:ea typeface="Yu Gothic"/>
              </a:rPr>
              <a:t>みんなの介護ゆうあい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00" y="6642000"/>
            <a:ext cx="2268000" cy="18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latin typeface="Yu Gothic"/>
                <a:ea typeface="Yu Gothic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2160000"/>
            <a:ext cx="11088000" cy="108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Yu Gothic"/>
                <a:ea typeface="Yu Gothic"/>
              </a:rPr>
              <a:t>質疑応答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3600000"/>
            <a:ext cx="11088000" cy="54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ctr"/>
            <a:r>
              <a:rPr sz="2200" b="0">
                <a:solidFill>
                  <a:srgbClr val="EEEEEE"/>
                </a:solidFill>
                <a:latin typeface="Yu Gothic"/>
                <a:ea typeface="Yu Gothic"/>
              </a:rPr>
              <a:t>ご清聴ありがとうございました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5760000"/>
            <a:ext cx="11088000" cy="288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ctr"/>
            <a:r>
              <a:rPr sz="1200" b="0">
                <a:solidFill>
                  <a:srgbClr val="DDDDDD"/>
                </a:solidFill>
                <a:latin typeface="Yu Gothic"/>
                <a:ea typeface="Yu Gothic"/>
              </a:rPr>
              <a:t>4月　倫理・法令遵守　／　みんなの介護ゆうあい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