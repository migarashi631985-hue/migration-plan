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4a" ContentType="audio/mp4"/>
  <Override PartName="/ppt/media/media10.m4a" ContentType="audio/mp4"/>
  <Override PartName="/ppt/media/media11.m4a" ContentType="audio/mp4"/>
  <Override PartName="/ppt/media/media12.m4a" ContentType="audio/mp4"/>
  <Override PartName="/ppt/media/media13.m4a" ContentType="audio/mp4"/>
  <Override PartName="/ppt/media/media14.m4a" ContentType="audio/mp4"/>
  <Override PartName="/ppt/media/media15.m4a" ContentType="audio/mp4"/>
  <Override PartName="/ppt/media/media16.m4a" ContentType="audio/mp4"/>
  <Override PartName="/ppt/media/media17.m4a" ContentType="audio/mp4"/>
  <Override PartName="/ppt/media/media18.m4a" ContentType="audio/mp4"/>
  <Override PartName="/ppt/media/media19.m4a" ContentType="audio/mp4"/>
  <Override PartName="/ppt/media/media2.m4a" ContentType="audio/mp4"/>
  <Override PartName="/ppt/media/media20.m4a" ContentType="audio/mp4"/>
  <Override PartName="/ppt/media/media3.m4a" ContentType="audio/mp4"/>
  <Override PartName="/ppt/media/media4.m4a" ContentType="audio/mp4"/>
  <Override PartName="/ppt/media/media5.m4a" ContentType="audio/mp4"/>
  <Override PartName="/ppt/media/media6.m4a" ContentType="audio/mp4"/>
  <Override PartName="/ppt/media/media7.m4a" ContentType="audio/mp4"/>
  <Override PartName="/ppt/media/media8.m4a" ContentType="audio/mp4"/>
  <Override PartName="/ppt/media/media9.m4a" ContentType="audio/mp4"/>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32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4月の職員研修を始めます。本日のテーマは、倫理と法令遵守です。利用者の尊厳を守り、守秘義務を徹底することが目的です。みんなの介護ゆうあいの職員として、一緒に学んでまいりましょう。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研修が終わったとき、皆さんには次の5つができるようになってほしいと考えています。1つ目、介護職員の倫理綱領、5つの柱を具体例とともに説明できること。2つ目、尊厳を守る関わりと、傷つける関わりを見分けられること。3つ目、守秘義務の対象・範囲・違反時のリスクを理解すること。4つ目、SNSや施設の外での情報漏えいを防ぐ、具体的な方法を挙げられること。5つ目、倫理的なジレンマに出会ったとき、判断の手順を踏め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介護倫理とは何かから確認します。倫理とは、人としてどうあるべきか、を示す行動の指針です。法令が、してはいけないことの最低ラインを決めているのに対し、倫理は、よりよいケアを目指すためのものさしです。利用者の立場、専門職としての責任、そして社会からの信頼、この3つの視点から自分の行動を見つめ直してください。倫理は正解を与えてくれません。迷ったときに戻ってくる、共通のものさし、と捉えてお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介護職員の倫理綱領のうち、今日はまず3つを見ていきます。1つ目、利用者本位。献立や入浴順、レクへの参加など、本人に確認してから進めます。2つ目、専門的サービス。根拠ある技術と知識で、安全にケアを提供します。手順書に沿って、研修で学んだ最新の方法に更新していきましょう。3つ目、プライバシー保護。得た情報は業務に必要な範囲だけで共有します。申し送りは人目人耳のない場所で、記録物は施錠して管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続いて残りの3つです。4つ目、連携協働。医療・看護・リハビリ・ご家族・地域と情報を共有し、1人で抱え込まないことです。服薬変更の際は、看護師と必ずダブルチェックしましょう。5つ目、ニーズの代弁。話せない、伝えられない利用者の想いを、私たちが代わりに届けます。表情や食欲の変化を見逃さないでください。6つ目、後継者の育成。新人や実習生にも尊厳ある態度で接しましょう。先輩の関わりを新人はよく見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尊厳を守る関わりと、傷つけてしまう関わりを対比で見ていきます。左が望ましい関わり、右が避けたい関わりです。たとえば、ちゃん付けや、おばあちゃん、という呼び方。無言でケアを始めること。ドアを開けたままの排泄介助。ダメ、早くして、という否定や急かし。こうした関わりは、無意識のうちに利用者の尊厳を損ねています。右の項目に心当たりがあったら、今日から1つだけでも変え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事例を見ていきます。1つ目は呼び方の問題です。新人のAさんは、利用者の田中花子さんを、はなちゃん、と呼んでいました。ご本人は笑顔で応じていましたが、ご家族から、母を子ども扱いしないでほしい、と指摘がありました。本人が嫌がっていないから大丈夫、とは言い切れません。本人が否定できない関係性、年齢・立場への敬意、そしてご家族から見た姿。この3つの視点で考えてみ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目は入浴介助の場面です。男性職員が浴室介助中、タオルを取りにドアを開けたまま脱衣所を出入りしました。認知症だから気づかない、急いでいたから、という言い訳は、尊厳の観点から絶対に通用しません。見えるかもしれない、という可能性自体が尊厳を損ないます。浴室運用のルールを、どう変えれば再発を防げるか、グループで話し合ってみ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守秘義務の話に入ります。介護保険法の69条の38には、正当な理由なく、業務上知り得た秘密を漏らしてはならない、と明記されています。介護福祉士法では、違反に対し、1年以下の懲役または30万円以下の罰金が定められています。在職中だけでなく、退職後も守秘義務は継続します。知らなかった、は通用しません。私たちは入職時に同意書にサイン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守秘義務の対象と、漏えいしやすい場面を整理しておきます。氏名、住所、家族構成、病名、服薬、要介護度、ケアの様子、写真・動画。これらはすべて守秘義務の対象です。そして漏えいしやすいのは、送迎の車内、エレベーター、休憩室、ご家族や友人への何気ない話、SNS、置き忘れたスマホ、退職後の元同僚との飲み会です。現場の外こそ要注意、と覚えておい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し守秘義務違反が起きたらどうなるか、具体的に見ておきます。まず、本人とご家族への謝罪と説明。施設としての行政への報告。監査や、最悪の場合、指定取り消しのリスクもあります。職員個人には、懲戒処分や損害賠償、刑事罰の可能性があります。そして何より、施設の信頼失墜により、入居率低下や採用困難が起き、施設運営そのものが揺らぎます。影響は決して、個人だけでは終わ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目の事例、居酒屋での会話です。勤務後、同僚と居酒屋へ行き、隣席に聞こえる声で、今日の田中さん、また失禁しちゃって大変だった、と話しました。翌週、田中さんのご家族から苦情の電話がありました。隣席のお客さんがご家族の知人だったのです。情報共有が必要なときは、どこで、どのようにするべきか。自分で守るルールを、1つだけでも決めて、今日から実践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つ目の事例、SNSへの写真投稿です。夏祭りの集合写真を、鍵なしのインスタグラムに、施設名のハッシュタグ付きで投稿しました。写真には認知症の利用者も写り込んでいて、ご家族の同意は得ていませんでした。個人情報、肖像権、守秘義務、3つすべてに問題があります。写真で発信したい場合、事前にどんな手続きが必要か、施設として何をルール化すべきかを考えてみ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つ目の事例、家族からの電話照会です。夜勤中、○○さんの息子です、と電話がありました。普段のキーパーソンは娘さん、息子さんの連絡先は記録になく、声も初めてです。職員はつい、今日は食事を半分残しました、と答えてしまいました。電話の相手が本当にご家族かどうか、どう確認すべきか。施設として、電話での情報提供ルールを整えておく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に、倫理的なジレンマに出会ったときの判断手順を紹介します。ステップ1、事実を整理する。誰が、何を、どこで、いつ、なぜ。ステップ2、関係する原則を挙げる。自己決定、安全、尊厳、公平。ステップ3、選択肢を複数出す。A案、B案、C案、のように。ステップ4、それぞれの利点とリスクを比較する。ステップ5、1人で決めず、上司や多職種に相談する。ステップ6、決めた理由を記録に残す。迷うこと自体が、倫理的に考えている証拠です。迷ったら相談、が正解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つ目の事例、本人の希望と安全のジレンマです。Fさんは毎日散歩に行きたい、と強く希望しています。しかし最近、道に迷い警察に保護されました。ご家族は、もう外出させないで、と言っています。本人は、家に閉じ込められるなんてひどい、と怒っています。外出ゼロ、完全自由、この両極端ではない、第3の選択肢を考えてみてください。同行散歩、GPSの活用、時間帯や距離の制限など、本人・家族・多職種でどんな合意が作れるか、話し合ってみ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係する法令の最低ラインをまとめておきます。介護保険法、老人福祉法、高齢者虐待防止法、個人情報保護法、労働基準法、労働安全衛生法、そして身体拘束廃止の指定基準。これらは、私たちの仕事の土台です。迷ったら、利用者にとって最善か、そして、記録に残して説明できる行為か、この2つの問いで判断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自己チェックです。8つの項目について、できている、ときどき、できていない、の3段階で振り返ってください。大切なのは、正解を出すことではなく、今の自分を正直に見つめることです。できていない、と感じた項目があれば、そこが次の1週間の行動目標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まとめです。倫理は目指す姿、法令は最低ライン。両方を意識しましょう。尊厳を守る第1歩は、呼び方と声かけ。守秘義務は退職後も続きます。施設外、SNS、電話対応に注意してください。そして、迷ったら1人で決めず、上司や多職種に相談し、記録に残すこと。明日からの行動目標として、まずはこの4点を意識してみ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本日の研修は以上です。ご清聴ありがとうございました。ご質問、ご意見、現場での困りごとがあれば、遠慮なくお聞かせください。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microsoft.com/office/2007/relationships/media" Target="../media/media1.m4a"/><Relationship Id="rId4" Type="http://schemas.openxmlformats.org/officeDocument/2006/relationships/video" Target="../media/media1.m4a"/><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microsoft.com/office/2007/relationships/media" Target="../media/media2.m4a"/><Relationship Id="rId4" Type="http://schemas.openxmlformats.org/officeDocument/2006/relationships/video" Target="../media/media2.m4a"/><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microsoft.com/office/2007/relationships/media" Target="../media/media3.m4a"/><Relationship Id="rId4" Type="http://schemas.openxmlformats.org/officeDocument/2006/relationships/video" Target="../media/media3.m4a"/><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microsoft.com/office/2007/relationships/media" Target="../media/media4.m4a"/><Relationship Id="rId4" Type="http://schemas.openxmlformats.org/officeDocument/2006/relationships/video" Target="../media/media4.m4a"/><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microsoft.com/office/2007/relationships/media" Target="../media/media5.m4a"/><Relationship Id="rId4" Type="http://schemas.openxmlformats.org/officeDocument/2006/relationships/video" Target="../media/media5.m4a"/><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microsoft.com/office/2007/relationships/media" Target="../media/media6.m4a"/><Relationship Id="rId4" Type="http://schemas.openxmlformats.org/officeDocument/2006/relationships/video" Target="../media/media6.m4a"/><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microsoft.com/office/2007/relationships/media" Target="../media/media7.m4a"/><Relationship Id="rId4" Type="http://schemas.openxmlformats.org/officeDocument/2006/relationships/video" Target="../media/media7.m4a"/><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microsoft.com/office/2007/relationships/media" Target="../media/media8.m4a"/><Relationship Id="rId4" Type="http://schemas.openxmlformats.org/officeDocument/2006/relationships/video" Target="../media/media8.m4a"/><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microsoft.com/office/2007/relationships/media" Target="../media/media9.m4a"/><Relationship Id="rId4" Type="http://schemas.openxmlformats.org/officeDocument/2006/relationships/video" Target="../media/media9.m4a"/><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microsoft.com/office/2007/relationships/media" Target="../media/media10.m4a"/><Relationship Id="rId4" Type="http://schemas.openxmlformats.org/officeDocument/2006/relationships/video" Target="../media/media10.m4a"/><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microsoft.com/office/2007/relationships/media" Target="../media/media11.m4a"/><Relationship Id="rId4" Type="http://schemas.openxmlformats.org/officeDocument/2006/relationships/video" Target="../media/media11.m4a"/><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microsoft.com/office/2007/relationships/media" Target="../media/media12.m4a"/><Relationship Id="rId4" Type="http://schemas.openxmlformats.org/officeDocument/2006/relationships/video" Target="../media/media12.m4a"/><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microsoft.com/office/2007/relationships/media" Target="../media/media13.m4a"/><Relationship Id="rId4" Type="http://schemas.openxmlformats.org/officeDocument/2006/relationships/video" Target="../media/media13.m4a"/><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microsoft.com/office/2007/relationships/media" Target="../media/media14.m4a"/><Relationship Id="rId4" Type="http://schemas.openxmlformats.org/officeDocument/2006/relationships/video" Target="../media/media14.m4a"/><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microsoft.com/office/2007/relationships/media" Target="../media/media15.m4a"/><Relationship Id="rId4" Type="http://schemas.openxmlformats.org/officeDocument/2006/relationships/video" Target="../media/media15.m4a"/><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microsoft.com/office/2007/relationships/media" Target="../media/media16.m4a"/><Relationship Id="rId4" Type="http://schemas.openxmlformats.org/officeDocument/2006/relationships/video" Target="../media/media16.m4a"/><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microsoft.com/office/2007/relationships/media" Target="../media/media17.m4a"/><Relationship Id="rId4" Type="http://schemas.openxmlformats.org/officeDocument/2006/relationships/video" Target="../media/media17.m4a"/><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microsoft.com/office/2007/relationships/media" Target="../media/media18.m4a"/><Relationship Id="rId4" Type="http://schemas.openxmlformats.org/officeDocument/2006/relationships/video" Target="../media/media18.m4a"/><Relationship Id="rId5"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microsoft.com/office/2007/relationships/media" Target="../media/media19.m4a"/><Relationship Id="rId4" Type="http://schemas.openxmlformats.org/officeDocument/2006/relationships/video" Target="../media/media19.m4a"/><Relationship Id="rId5"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microsoft.com/office/2007/relationships/media" Target="../media/media20.m4a"/><Relationship Id="rId4" Type="http://schemas.openxmlformats.org/officeDocument/2006/relationships/video" Target="../media/media20.m4a"/><Relationship Id="rId5"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40000"/>
            <a:ext cx="12193200" cy="19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0000" y="576000"/>
            <a:ext cx="10800000" cy="432000"/>
          </a:xfrm>
          <a:prstGeom prst="rect">
            <a:avLst/>
          </a:prstGeom>
          <a:noFill/>
        </p:spPr>
        <p:txBody>
          <a:bodyPr wrap="square" lIns="36000" rIns="36000">
            <a:spAutoFit/>
          </a:bodyPr>
          <a:lstStyle/>
          <a:p>
            <a:pPr algn="l"/>
            <a:r>
              <a:rPr sz="2200" b="1">
                <a:solidFill>
                  <a:srgbClr val="FFFFFF"/>
                </a:solidFill>
                <a:latin typeface="Yu Gothic"/>
                <a:ea typeface="Yu Gothic"/>
              </a:rPr>
              <a:t>4月　職員研修</a:t>
            </a:r>
          </a:p>
        </p:txBody>
      </p:sp>
      <p:sp>
        <p:nvSpPr>
          <p:cNvPr id="5" name="TextBox 4"/>
          <p:cNvSpPr txBox="1"/>
          <p:nvPr/>
        </p:nvSpPr>
        <p:spPr>
          <a:xfrm>
            <a:off x="540000" y="2484000"/>
            <a:ext cx="11088000" cy="720000"/>
          </a:xfrm>
          <a:prstGeom prst="rect">
            <a:avLst/>
          </a:prstGeom>
          <a:noFill/>
        </p:spPr>
        <p:txBody>
          <a:bodyPr wrap="square" lIns="36000" rIns="36000">
            <a:spAutoFit/>
          </a:bodyPr>
          <a:lstStyle/>
          <a:p>
            <a:pPr algn="l"/>
            <a:r>
              <a:rPr sz="4000" b="1">
                <a:solidFill>
                  <a:srgbClr val="1F4E79"/>
                </a:solidFill>
                <a:latin typeface="Yu Gothic"/>
                <a:ea typeface="Yu Gothic"/>
              </a:rPr>
              <a:t>倫理・法令遵守</a:t>
            </a:r>
          </a:p>
        </p:txBody>
      </p:sp>
      <p:sp>
        <p:nvSpPr>
          <p:cNvPr id="6" name="TextBox 5"/>
          <p:cNvSpPr txBox="1"/>
          <p:nvPr/>
        </p:nvSpPr>
        <p:spPr>
          <a:xfrm>
            <a:off x="540000" y="3528000"/>
            <a:ext cx="11088000" cy="540000"/>
          </a:xfrm>
          <a:prstGeom prst="rect">
            <a:avLst/>
          </a:prstGeom>
          <a:noFill/>
        </p:spPr>
        <p:txBody>
          <a:bodyPr wrap="square" lIns="36000" rIns="36000">
            <a:spAutoFit/>
          </a:bodyPr>
          <a:lstStyle/>
          <a:p>
            <a:pPr algn="l"/>
            <a:r>
              <a:rPr sz="2000" b="0">
                <a:solidFill>
                  <a:srgbClr val="222222"/>
                </a:solidFill>
                <a:latin typeface="Yu Gothic"/>
                <a:ea typeface="Yu Gothic"/>
              </a:rPr>
              <a:t>利用者の尊厳を守り、守秘義務を徹底する</a:t>
            </a:r>
          </a:p>
        </p:txBody>
      </p:sp>
      <p:sp>
        <p:nvSpPr>
          <p:cNvPr id="7" name="TextBox 6"/>
          <p:cNvSpPr txBox="1"/>
          <p:nvPr/>
        </p:nvSpPr>
        <p:spPr>
          <a:xfrm>
            <a:off x="540000" y="4860000"/>
            <a:ext cx="11088000" cy="360000"/>
          </a:xfrm>
          <a:prstGeom prst="rect">
            <a:avLst/>
          </a:prstGeom>
          <a:noFill/>
        </p:spPr>
        <p:txBody>
          <a:bodyPr wrap="square" lIns="36000" rIns="36000">
            <a:spAutoFit/>
          </a:bodyPr>
          <a:lstStyle/>
          <a:p>
            <a:pPr algn="l"/>
            <a:r>
              <a:rPr sz="2200" b="1">
                <a:solidFill>
                  <a:srgbClr val="FFFFFF"/>
                </a:solidFill>
                <a:latin typeface="Yu Gothic"/>
                <a:ea typeface="Yu Gothic"/>
              </a:rPr>
              <a:t>みんなの介護ゆうあい</a:t>
            </a:r>
          </a:p>
        </p:txBody>
      </p:sp>
      <p:sp>
        <p:nvSpPr>
          <p:cNvPr id="8" name="TextBox 7"/>
          <p:cNvSpPr txBox="1"/>
          <p:nvPr/>
        </p:nvSpPr>
        <p:spPr>
          <a:xfrm>
            <a:off x="540000" y="5400000"/>
            <a:ext cx="11088000" cy="288000"/>
          </a:xfrm>
          <a:prstGeom prst="rect">
            <a:avLst/>
          </a:prstGeom>
          <a:noFill/>
        </p:spPr>
        <p:txBody>
          <a:bodyPr wrap="square" lIns="36000" rIns="36000">
            <a:spAutoFit/>
          </a:bodyPr>
          <a:lstStyle/>
          <a:p>
            <a:pPr algn="l"/>
            <a:r>
              <a:rPr sz="1400" b="0">
                <a:solidFill>
                  <a:srgbClr val="EEEEEE"/>
                </a:solidFill>
                <a:latin typeface="Yu Gothic"/>
                <a:ea typeface="Yu Gothic"/>
              </a:rPr>
              <a:t>実施方法：集合研修・個別確認（施設内）</a:t>
            </a:r>
          </a:p>
        </p:txBody>
      </p:sp>
      <p:sp>
        <p:nvSpPr>
          <p:cNvPr id="9" name="TextBox 8"/>
          <p:cNvSpPr txBox="1"/>
          <p:nvPr/>
        </p:nvSpPr>
        <p:spPr>
          <a:xfrm>
            <a:off x="540000" y="5760000"/>
            <a:ext cx="11088000" cy="288000"/>
          </a:xfrm>
          <a:prstGeom prst="rect">
            <a:avLst/>
          </a:prstGeom>
          <a:noFill/>
        </p:spPr>
        <p:txBody>
          <a:bodyPr wrap="square" lIns="36000" rIns="36000">
            <a:spAutoFit/>
          </a:bodyPr>
          <a:lstStyle/>
          <a:p>
            <a:pPr algn="l"/>
            <a:r>
              <a:rPr sz="1200" b="0">
                <a:solidFill>
                  <a:srgbClr val="DDDDDD"/>
                </a:solidFill>
                <a:latin typeface="Yu Gothic"/>
                <a:ea typeface="Yu Gothic"/>
              </a:rPr>
              <a:t>進行：＿＿＿＿＿（施設内担当）　　日時：＿＿＿＿＿</a:t>
            </a:r>
          </a:p>
        </p:txBody>
      </p:sp>
      <p:pic>
        <p:nvPicPr>
          <p:cNvPr id="10" name="04_01.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10"/>
                </p:tgtEl>
              </p:cMediaNode>
            </p:audio>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本日の目的と到達目標</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TextBox 4"/>
          <p:cNvSpPr txBox="1"/>
          <p:nvPr/>
        </p:nvSpPr>
        <p:spPr>
          <a:xfrm>
            <a:off x="360000" y="792000"/>
            <a:ext cx="11520000" cy="360000"/>
          </a:xfrm>
          <a:prstGeom prst="rect">
            <a:avLst/>
          </a:prstGeom>
          <a:noFill/>
        </p:spPr>
        <p:txBody>
          <a:bodyPr wrap="square" lIns="36000" rIns="36000">
            <a:spAutoFit/>
          </a:bodyPr>
          <a:lstStyle/>
          <a:p>
            <a:pPr algn="l"/>
            <a:r>
              <a:rPr sz="1600" b="0">
                <a:solidFill>
                  <a:srgbClr val="555555"/>
                </a:solidFill>
                <a:latin typeface="Yu Gothic"/>
                <a:ea typeface="Yu Gothic"/>
              </a:rPr>
              <a:t>この研修が終わったとき、受講者は次ができるようになります。</a:t>
            </a:r>
          </a:p>
        </p:txBody>
      </p:sp>
      <p:sp>
        <p:nvSpPr>
          <p:cNvPr id="6" name="Rectangle 5"/>
          <p:cNvSpPr/>
          <p:nvPr/>
        </p:nvSpPr>
        <p:spPr>
          <a:xfrm>
            <a:off x="360000" y="1440000"/>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0000" y="1440000"/>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1</a:t>
            </a:r>
          </a:p>
        </p:txBody>
      </p:sp>
      <p:sp>
        <p:nvSpPr>
          <p:cNvPr id="8" name="TextBox 7"/>
          <p:cNvSpPr txBox="1"/>
          <p:nvPr/>
        </p:nvSpPr>
        <p:spPr>
          <a:xfrm>
            <a:off x="936000" y="1458000"/>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介護職員の倫理綱領の5つの柱を具体例とともに説明できる</a:t>
            </a:r>
          </a:p>
        </p:txBody>
      </p:sp>
      <p:sp>
        <p:nvSpPr>
          <p:cNvPr id="9" name="Rectangle 8"/>
          <p:cNvSpPr/>
          <p:nvPr/>
        </p:nvSpPr>
        <p:spPr>
          <a:xfrm>
            <a:off x="360000" y="2015999"/>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000" y="2015999"/>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2</a:t>
            </a:r>
          </a:p>
        </p:txBody>
      </p:sp>
      <p:sp>
        <p:nvSpPr>
          <p:cNvPr id="11" name="TextBox 10"/>
          <p:cNvSpPr txBox="1"/>
          <p:nvPr/>
        </p:nvSpPr>
        <p:spPr>
          <a:xfrm>
            <a:off x="936000" y="2033999"/>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尊厳を守る関わりと、傷つける関わりを見分けられる</a:t>
            </a:r>
          </a:p>
        </p:txBody>
      </p:sp>
      <p:sp>
        <p:nvSpPr>
          <p:cNvPr id="12" name="Rectangle 11"/>
          <p:cNvSpPr/>
          <p:nvPr/>
        </p:nvSpPr>
        <p:spPr>
          <a:xfrm>
            <a:off x="360000" y="2591999"/>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00" y="2591999"/>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3</a:t>
            </a:r>
          </a:p>
        </p:txBody>
      </p:sp>
      <p:sp>
        <p:nvSpPr>
          <p:cNvPr id="14" name="TextBox 13"/>
          <p:cNvSpPr txBox="1"/>
          <p:nvPr/>
        </p:nvSpPr>
        <p:spPr>
          <a:xfrm>
            <a:off x="936000" y="2609999"/>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守秘義務の対象・範囲・違反時のリスクを理解する</a:t>
            </a:r>
          </a:p>
        </p:txBody>
      </p:sp>
      <p:sp>
        <p:nvSpPr>
          <p:cNvPr id="15" name="Rectangle 14"/>
          <p:cNvSpPr/>
          <p:nvPr/>
        </p:nvSpPr>
        <p:spPr>
          <a:xfrm>
            <a:off x="360000" y="3167999"/>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000" y="3167999"/>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4</a:t>
            </a:r>
          </a:p>
        </p:txBody>
      </p:sp>
      <p:sp>
        <p:nvSpPr>
          <p:cNvPr id="17" name="TextBox 16"/>
          <p:cNvSpPr txBox="1"/>
          <p:nvPr/>
        </p:nvSpPr>
        <p:spPr>
          <a:xfrm>
            <a:off x="936000" y="3186000"/>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SNS・施設外での情報漏えいを防ぐ具体策を挙げられる</a:t>
            </a:r>
          </a:p>
        </p:txBody>
      </p:sp>
      <p:sp>
        <p:nvSpPr>
          <p:cNvPr id="18" name="Rectangle 17"/>
          <p:cNvSpPr/>
          <p:nvPr/>
        </p:nvSpPr>
        <p:spPr>
          <a:xfrm>
            <a:off x="360000" y="3743999"/>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0000" y="3743999"/>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5</a:t>
            </a:r>
          </a:p>
        </p:txBody>
      </p:sp>
      <p:sp>
        <p:nvSpPr>
          <p:cNvPr id="20" name="TextBox 19"/>
          <p:cNvSpPr txBox="1"/>
          <p:nvPr/>
        </p:nvSpPr>
        <p:spPr>
          <a:xfrm>
            <a:off x="936000" y="3761999"/>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倫理的ジレンマに出会ったとき、判断の手順を踏める</a:t>
            </a:r>
          </a:p>
        </p:txBody>
      </p:sp>
      <p:pic>
        <p:nvPicPr>
          <p:cNvPr id="21" name="04_02.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22" name="Rectangle 21"/>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4" name="TextBox 23"/>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2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21"/>
                </p:tgtEl>
              </p:cMediaNode>
            </p:audi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 そもそも「介護倫理」とは</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倫理＝「人としてどうあるべきか」を示す行動の指針</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法令（最低ライン）を超えて、質の高いケアを目指すもの</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『利用者の立場』『専門職としての責務』『社会からの信頼』の3視点</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違反しても罰はないが、信頼を失う＝施設運営を揺るがす</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現場の迷いを減らすために、仲間と共通認識を持つことが重要</a:t>
            </a:r>
          </a:p>
        </p:txBody>
      </p:sp>
      <p:sp>
        <p:nvSpPr>
          <p:cNvPr id="15" name="Rectangle 14"/>
          <p:cNvSpPr/>
          <p:nvPr/>
        </p:nvSpPr>
        <p:spPr>
          <a:xfrm>
            <a:off x="360000" y="5832000"/>
            <a:ext cx="11484000" cy="612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5886000"/>
            <a:ext cx="11160000" cy="540000"/>
          </a:xfrm>
          <a:prstGeom prst="rect">
            <a:avLst/>
          </a:prstGeom>
          <a:noFill/>
        </p:spPr>
        <p:txBody>
          <a:bodyPr wrap="square" lIns="36000" rIns="36000">
            <a:spAutoFit/>
          </a:bodyPr>
          <a:lstStyle/>
          <a:p>
            <a:pPr algn="l"/>
            <a:r>
              <a:rPr sz="1300" b="1">
                <a:solidFill>
                  <a:srgbClr val="1F4E79"/>
                </a:solidFill>
                <a:latin typeface="Yu Gothic"/>
                <a:ea typeface="Yu Gothic"/>
              </a:rPr>
              <a:t>▶ 倫理は正解を与えるものではなく、迷ったときに戻る「ものさし」。</a:t>
            </a:r>
          </a:p>
        </p:txBody>
      </p:sp>
      <p:pic>
        <p:nvPicPr>
          <p:cNvPr id="17" name="04_03.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18" name="Rectangle 17"/>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0" name="TextBox 19"/>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3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17"/>
                </p:tgtEl>
              </p:cMediaNode>
            </p:audi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2. 倫理綱領 ① 利用者本位・専門性・情報管理</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① 利用者本位：利用者の自己決定を尊重し、残存能力を活かす支援</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　例）献立・入浴順・レクへの参加可否を本人に確認してから進める</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② 専門的サービス：根拠ある技術・知識で、安全にケアを提供する</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　例）移乗・食事介助の手順書に沿う／研修で学んだ最新の方法に更新</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③ プライバシー保護：得た情報は業務に必要な範囲でのみ共有する</a:t>
            </a:r>
          </a:p>
        </p:txBody>
      </p:sp>
      <p:sp>
        <p:nvSpPr>
          <p:cNvPr id="15" name="Rectangle 14"/>
          <p:cNvSpPr/>
          <p:nvPr/>
        </p:nvSpPr>
        <p:spPr>
          <a:xfrm>
            <a:off x="432000" y="354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4000" y="338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　例）申し送りは人目・人耳のない場所で、記録物は施錠管理</a:t>
            </a:r>
          </a:p>
        </p:txBody>
      </p:sp>
      <p:pic>
        <p:nvPicPr>
          <p:cNvPr id="17" name="04_04.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18" name="Rectangle 17"/>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0" name="TextBox 19"/>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4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17"/>
                </p:tgtEl>
              </p:cMediaNode>
            </p:audi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3. 倫理綱領 ② 連携協働・代弁と育成</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④ 連携協働：医療・看護・リハ・家族・地域と情報共有し、一人で抱えない</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　例）服薬変更時は看護師と必ずダブルチェック／家族面談で方針確認</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⑤ 利用者ニーズの代弁：話せない・伝えられない想いを代わりに届ける</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　例）「痛いかも」「本当は帰りたい」のサインを表情・食欲から汲み取る</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⑥ 後継者育成：新人・実習生にも尊厳ある態度で接し、技術と倫理を伝える</a:t>
            </a:r>
          </a:p>
        </p:txBody>
      </p:sp>
      <p:sp>
        <p:nvSpPr>
          <p:cNvPr id="15" name="Rectangle 14"/>
          <p:cNvSpPr/>
          <p:nvPr/>
        </p:nvSpPr>
        <p:spPr>
          <a:xfrm>
            <a:off x="432000" y="354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4000" y="338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　例）新人の前で利用者を呼び捨てにしない（見て真似される）</a:t>
            </a:r>
          </a:p>
        </p:txBody>
      </p:sp>
      <p:pic>
        <p:nvPicPr>
          <p:cNvPr id="17" name="04_05.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18" name="Rectangle 17"/>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0" name="TextBox 19"/>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5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17"/>
                </p:tgtEl>
              </p:cMediaNode>
            </p:audi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4. 利用者の尊厳を守るとは</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Rectangle 4"/>
          <p:cNvSpPr/>
          <p:nvPr/>
        </p:nvSpPr>
        <p:spPr>
          <a:xfrm>
            <a:off x="360000" y="864000"/>
            <a:ext cx="5580000" cy="39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2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尊厳を守る関わり（○）</a:t>
            </a:r>
          </a:p>
        </p:txBody>
      </p:sp>
      <p:sp>
        <p:nvSpPr>
          <p:cNvPr id="7" name="Rectangle 6"/>
          <p:cNvSpPr/>
          <p:nvPr/>
        </p:nvSpPr>
        <p:spPr>
          <a:xfrm>
            <a:off x="360000" y="1260000"/>
            <a:ext cx="5580000" cy="450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8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・氏名＋「さん」で呼ぶ</a:t>
            </a:r>
          </a:p>
        </p:txBody>
      </p:sp>
      <p:sp>
        <p:nvSpPr>
          <p:cNvPr id="9" name="TextBox 8"/>
          <p:cNvSpPr txBox="1"/>
          <p:nvPr/>
        </p:nvSpPr>
        <p:spPr>
          <a:xfrm>
            <a:off x="468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・ケア前に必ず声かけ・同意確認</a:t>
            </a:r>
          </a:p>
        </p:txBody>
      </p:sp>
      <p:sp>
        <p:nvSpPr>
          <p:cNvPr id="10" name="TextBox 9"/>
          <p:cNvSpPr txBox="1"/>
          <p:nvPr/>
        </p:nvSpPr>
        <p:spPr>
          <a:xfrm>
            <a:off x="468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・排泄・入浴時はカーテン・タオルで配慮</a:t>
            </a:r>
          </a:p>
        </p:txBody>
      </p:sp>
      <p:sp>
        <p:nvSpPr>
          <p:cNvPr id="11" name="TextBox 10"/>
          <p:cNvSpPr txBox="1"/>
          <p:nvPr/>
        </p:nvSpPr>
        <p:spPr>
          <a:xfrm>
            <a:off x="468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・選択肢を示し、ご本人が決める</a:t>
            </a:r>
          </a:p>
        </p:txBody>
      </p:sp>
      <p:sp>
        <p:nvSpPr>
          <p:cNvPr id="12" name="TextBox 11"/>
          <p:cNvSpPr txBox="1"/>
          <p:nvPr/>
        </p:nvSpPr>
        <p:spPr>
          <a:xfrm>
            <a:off x="468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・年齢相応の言葉づかい（敬語）</a:t>
            </a:r>
          </a:p>
        </p:txBody>
      </p:sp>
      <p:sp>
        <p:nvSpPr>
          <p:cNvPr id="13" name="TextBox 12"/>
          <p:cNvSpPr txBox="1"/>
          <p:nvPr/>
        </p:nvSpPr>
        <p:spPr>
          <a:xfrm>
            <a:off x="468000" y="3527999"/>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・失敗を責めない／できたことを言葉にする</a:t>
            </a:r>
          </a:p>
        </p:txBody>
      </p:sp>
      <p:sp>
        <p:nvSpPr>
          <p:cNvPr id="14" name="Rectangle 13"/>
          <p:cNvSpPr/>
          <p:nvPr/>
        </p:nvSpPr>
        <p:spPr>
          <a:xfrm>
            <a:off x="6228000" y="864000"/>
            <a:ext cx="5580000" cy="396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0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尊厳を損なう関わり（×）</a:t>
            </a:r>
          </a:p>
        </p:txBody>
      </p:sp>
      <p:sp>
        <p:nvSpPr>
          <p:cNvPr id="16" name="Rectangle 15"/>
          <p:cNvSpPr/>
          <p:nvPr/>
        </p:nvSpPr>
        <p:spPr>
          <a:xfrm>
            <a:off x="6228000" y="1260000"/>
            <a:ext cx="5580000" cy="450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6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・ちゃん・あだ名・「おばあちゃん」</a:t>
            </a:r>
          </a:p>
        </p:txBody>
      </p:sp>
      <p:sp>
        <p:nvSpPr>
          <p:cNvPr id="18" name="TextBox 17"/>
          <p:cNvSpPr txBox="1"/>
          <p:nvPr/>
        </p:nvSpPr>
        <p:spPr>
          <a:xfrm>
            <a:off x="6336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・無言でケアを始める・体を動かす</a:t>
            </a:r>
          </a:p>
        </p:txBody>
      </p:sp>
      <p:sp>
        <p:nvSpPr>
          <p:cNvPr id="19" name="TextBox 18"/>
          <p:cNvSpPr txBox="1"/>
          <p:nvPr/>
        </p:nvSpPr>
        <p:spPr>
          <a:xfrm>
            <a:off x="6336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・居室のドアを開けたまま排泄介助</a:t>
            </a:r>
          </a:p>
        </p:txBody>
      </p:sp>
      <p:sp>
        <p:nvSpPr>
          <p:cNvPr id="20" name="TextBox 19"/>
          <p:cNvSpPr txBox="1"/>
          <p:nvPr/>
        </p:nvSpPr>
        <p:spPr>
          <a:xfrm>
            <a:off x="6336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・「ダメ」「早くして」と否定・急かす</a:t>
            </a:r>
          </a:p>
        </p:txBody>
      </p:sp>
      <p:sp>
        <p:nvSpPr>
          <p:cNvPr id="21" name="TextBox 20"/>
          <p:cNvSpPr txBox="1"/>
          <p:nvPr/>
        </p:nvSpPr>
        <p:spPr>
          <a:xfrm>
            <a:off x="6336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・子ども扱いの言葉（タメ口・命令形）</a:t>
            </a:r>
          </a:p>
        </p:txBody>
      </p:sp>
      <p:sp>
        <p:nvSpPr>
          <p:cNvPr id="22" name="TextBox 21"/>
          <p:cNvSpPr txBox="1"/>
          <p:nvPr/>
        </p:nvSpPr>
        <p:spPr>
          <a:xfrm>
            <a:off x="6336000" y="3527999"/>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・他職員・他利用者の前での叱責</a:t>
            </a:r>
          </a:p>
        </p:txBody>
      </p:sp>
      <p:pic>
        <p:nvPicPr>
          <p:cNvPr id="23" name="04_06.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24" name="Rectangle 23"/>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6" name="TextBox 25"/>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6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23"/>
                </p:tgtEl>
              </p:cMediaNode>
            </p:audi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5. 事例① 呼び方の問題</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新人職員のAさんは、明るく親しみやすい性格。利用者の田中花子さん（85歳）を「はなちゃん」と呼んでいる。田中さんは笑顔で応じているが、家族が来訪した際、「母を子ども扱いしないでほしい」と不快感を示された。Aさんは「本人が嫌がっていないのに、なぜ？」と納得がいかない様子。</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「本人が嫌がっていない」なら問題ないと言えますか？</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家族が不快に感じた理由を、尊厳の観点から説明してください。</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Aさんに対してどのような言葉でフィードバックしますか？</a:t>
            </a:r>
          </a:p>
        </p:txBody>
      </p:sp>
      <p:pic>
        <p:nvPicPr>
          <p:cNvPr id="13" name="04_07.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14" name="Rectangle 13"/>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6" name="TextBox 15"/>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7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13"/>
                </p:tgtEl>
              </p:cMediaNode>
            </p:audi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6. 事例② 入浴介助の場面</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浴室で利用者Bさん（女性・認知症あり）を介助中、男性職員Cさんがタオルを取りに脱衣所のドアを開けたまま出入りした。Bさんの裸体が廊下から一瞬見える状態だった。Cさんは「認知症だから気づかないし、急いでいたから」と話している。</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Cさんの言い分は倫理的に妥当ですか？その理由は？</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この場面で守るべき「尊厳」「プライバシー」とは具体的に何ですか？</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同様の事故を防ぐため、浴室前の運用ルールをどう変えますか？</a:t>
            </a:r>
          </a:p>
        </p:txBody>
      </p:sp>
      <p:pic>
        <p:nvPicPr>
          <p:cNvPr id="13" name="04_08.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14" name="Rectangle 13"/>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6" name="TextBox 15"/>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8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13"/>
                </p:tgtEl>
              </p:cMediaNode>
            </p:audi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7. 守秘義務の基礎（法的根拠）</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介護保険法 第69条の38：「正当な理由なく、業務上知り得た秘密を漏らしてはならない」</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介護福祉士法 第46条：守秘義務違反に 1年以下の懲役／30万円以下の罰金</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個人情報保護法：取得・利用・提供に本人同意が原則必要</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在職中だけでなく『退職後も』守秘義務は継続する</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施設の就業規則にも守秘義務違反は懲戒事由として明記されている</a:t>
            </a:r>
          </a:p>
        </p:txBody>
      </p:sp>
      <p:sp>
        <p:nvSpPr>
          <p:cNvPr id="15" name="Rectangle 14"/>
          <p:cNvSpPr/>
          <p:nvPr/>
        </p:nvSpPr>
        <p:spPr>
          <a:xfrm>
            <a:off x="360000" y="5832000"/>
            <a:ext cx="11484000" cy="612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5886000"/>
            <a:ext cx="11160000" cy="540000"/>
          </a:xfrm>
          <a:prstGeom prst="rect">
            <a:avLst/>
          </a:prstGeom>
          <a:noFill/>
        </p:spPr>
        <p:txBody>
          <a:bodyPr wrap="square" lIns="36000" rIns="36000">
            <a:spAutoFit/>
          </a:bodyPr>
          <a:lstStyle/>
          <a:p>
            <a:pPr algn="l"/>
            <a:r>
              <a:rPr sz="1300" b="1">
                <a:solidFill>
                  <a:srgbClr val="1F4E79"/>
                </a:solidFill>
                <a:latin typeface="Yu Gothic"/>
                <a:ea typeface="Yu Gothic"/>
              </a:rPr>
              <a:t>▶ 『知らなかった』は通用しない。入職時に同意書にサインしている。</a:t>
            </a:r>
          </a:p>
        </p:txBody>
      </p:sp>
      <p:pic>
        <p:nvPicPr>
          <p:cNvPr id="17" name="04_09.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18" name="Rectangle 17"/>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0" name="TextBox 19"/>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9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17"/>
                </p:tgtEl>
              </p:cMediaNode>
            </p:audi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8. 守秘義務の対象・範囲</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Rectangle 4"/>
          <p:cNvSpPr/>
          <p:nvPr/>
        </p:nvSpPr>
        <p:spPr>
          <a:xfrm>
            <a:off x="360000" y="864000"/>
            <a:ext cx="5580000" cy="39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2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対象になる情報</a:t>
            </a:r>
          </a:p>
        </p:txBody>
      </p:sp>
      <p:sp>
        <p:nvSpPr>
          <p:cNvPr id="7" name="Rectangle 6"/>
          <p:cNvSpPr/>
          <p:nvPr/>
        </p:nvSpPr>
        <p:spPr>
          <a:xfrm>
            <a:off x="360000" y="1260000"/>
            <a:ext cx="5580000" cy="450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8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・氏名・住所・電話番号・生年月日</a:t>
            </a:r>
          </a:p>
        </p:txBody>
      </p:sp>
      <p:sp>
        <p:nvSpPr>
          <p:cNvPr id="9" name="TextBox 8"/>
          <p:cNvSpPr txBox="1"/>
          <p:nvPr/>
        </p:nvSpPr>
        <p:spPr>
          <a:xfrm>
            <a:off x="468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・家族構成・職業・経済状況</a:t>
            </a:r>
          </a:p>
        </p:txBody>
      </p:sp>
      <p:sp>
        <p:nvSpPr>
          <p:cNvPr id="10" name="TextBox 9"/>
          <p:cNvSpPr txBox="1"/>
          <p:nvPr/>
        </p:nvSpPr>
        <p:spPr>
          <a:xfrm>
            <a:off x="468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・病名・服薬・既往歴・検査値</a:t>
            </a:r>
          </a:p>
        </p:txBody>
      </p:sp>
      <p:sp>
        <p:nvSpPr>
          <p:cNvPr id="11" name="TextBox 10"/>
          <p:cNvSpPr txBox="1"/>
          <p:nvPr/>
        </p:nvSpPr>
        <p:spPr>
          <a:xfrm>
            <a:off x="468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・要介護度・ADL・認知症の有無</a:t>
            </a:r>
          </a:p>
        </p:txBody>
      </p:sp>
      <p:sp>
        <p:nvSpPr>
          <p:cNvPr id="12" name="TextBox 11"/>
          <p:cNvSpPr txBox="1"/>
          <p:nvPr/>
        </p:nvSpPr>
        <p:spPr>
          <a:xfrm>
            <a:off x="468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・ケア内容・排泄・入浴の様子</a:t>
            </a:r>
          </a:p>
        </p:txBody>
      </p:sp>
      <p:sp>
        <p:nvSpPr>
          <p:cNvPr id="13" name="TextBox 12"/>
          <p:cNvSpPr txBox="1"/>
          <p:nvPr/>
        </p:nvSpPr>
        <p:spPr>
          <a:xfrm>
            <a:off x="468000" y="3527999"/>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・写真・動画・記録物</a:t>
            </a:r>
          </a:p>
        </p:txBody>
      </p:sp>
      <p:sp>
        <p:nvSpPr>
          <p:cNvPr id="14" name="Rectangle 13"/>
          <p:cNvSpPr/>
          <p:nvPr/>
        </p:nvSpPr>
        <p:spPr>
          <a:xfrm>
            <a:off x="6228000" y="864000"/>
            <a:ext cx="5580000" cy="396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0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漏えいが起きやすい場面</a:t>
            </a:r>
          </a:p>
        </p:txBody>
      </p:sp>
      <p:sp>
        <p:nvSpPr>
          <p:cNvPr id="16" name="Rectangle 15"/>
          <p:cNvSpPr/>
          <p:nvPr/>
        </p:nvSpPr>
        <p:spPr>
          <a:xfrm>
            <a:off x="6228000" y="1260000"/>
            <a:ext cx="5580000" cy="450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6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・送迎中の車内での会話</a:t>
            </a:r>
          </a:p>
        </p:txBody>
      </p:sp>
      <p:sp>
        <p:nvSpPr>
          <p:cNvPr id="18" name="TextBox 17"/>
          <p:cNvSpPr txBox="1"/>
          <p:nvPr/>
        </p:nvSpPr>
        <p:spPr>
          <a:xfrm>
            <a:off x="6336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・エレベーター・廊下・休憩室</a:t>
            </a:r>
          </a:p>
        </p:txBody>
      </p:sp>
      <p:sp>
        <p:nvSpPr>
          <p:cNvPr id="19" name="TextBox 18"/>
          <p:cNvSpPr txBox="1"/>
          <p:nvPr/>
        </p:nvSpPr>
        <p:spPr>
          <a:xfrm>
            <a:off x="6336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・家族や友人への「今日の出来事」</a:t>
            </a:r>
          </a:p>
        </p:txBody>
      </p:sp>
      <p:sp>
        <p:nvSpPr>
          <p:cNvPr id="20" name="TextBox 19"/>
          <p:cNvSpPr txBox="1"/>
          <p:nvPr/>
        </p:nvSpPr>
        <p:spPr>
          <a:xfrm>
            <a:off x="6336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・SNS（匿名でも特定される）</a:t>
            </a:r>
          </a:p>
        </p:txBody>
      </p:sp>
      <p:sp>
        <p:nvSpPr>
          <p:cNvPr id="21" name="TextBox 20"/>
          <p:cNvSpPr txBox="1"/>
          <p:nvPr/>
        </p:nvSpPr>
        <p:spPr>
          <a:xfrm>
            <a:off x="6336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・置き忘れたスマホ・記録ノート</a:t>
            </a:r>
          </a:p>
        </p:txBody>
      </p:sp>
      <p:sp>
        <p:nvSpPr>
          <p:cNvPr id="22" name="TextBox 21"/>
          <p:cNvSpPr txBox="1"/>
          <p:nvPr/>
        </p:nvSpPr>
        <p:spPr>
          <a:xfrm>
            <a:off x="6336000" y="3527999"/>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・退職後の元同僚との飲み会</a:t>
            </a:r>
          </a:p>
        </p:txBody>
      </p:sp>
      <p:pic>
        <p:nvPicPr>
          <p:cNvPr id="23" name="04_10.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24" name="Rectangle 23"/>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6" name="TextBox 25"/>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10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23"/>
                </p:tgtEl>
              </p:cMediaNode>
            </p:audi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9. もし守秘義務違反が起きたら</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本人・家族への謝罪と説明（施設長・管理者対応）</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行政への報告・場合により監査・指定取消のリスク</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職員個人：懲戒処分（戒告〜懲戒解雇）・損害賠償請求</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刑事罰：1年以下の懲役／30万円以下の罰金（介護福祉士法）</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施設の信頼失墜 → 入居率低下・採用困難 → 施設運営そのものが揺らぐ</a:t>
            </a:r>
          </a:p>
        </p:txBody>
      </p:sp>
      <p:sp>
        <p:nvSpPr>
          <p:cNvPr id="15" name="Rectangle 14"/>
          <p:cNvSpPr/>
          <p:nvPr/>
        </p:nvSpPr>
        <p:spPr>
          <a:xfrm>
            <a:off x="360000" y="5832000"/>
            <a:ext cx="11484000" cy="612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5886000"/>
            <a:ext cx="11160000" cy="540000"/>
          </a:xfrm>
          <a:prstGeom prst="rect">
            <a:avLst/>
          </a:prstGeom>
          <a:noFill/>
        </p:spPr>
        <p:txBody>
          <a:bodyPr wrap="square" lIns="36000" rIns="36000">
            <a:spAutoFit/>
          </a:bodyPr>
          <a:lstStyle/>
          <a:p>
            <a:pPr algn="l"/>
            <a:r>
              <a:rPr sz="1300" b="1">
                <a:solidFill>
                  <a:srgbClr val="1F4E79"/>
                </a:solidFill>
                <a:latin typeface="Yu Gothic"/>
                <a:ea typeface="Yu Gothic"/>
              </a:rPr>
              <a:t>▶ 影響は「個人」で終わらない。仲間と施設全体に及ぶ。</a:t>
            </a:r>
          </a:p>
        </p:txBody>
      </p:sp>
      <p:pic>
        <p:nvPicPr>
          <p:cNvPr id="17" name="04_11.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18" name="Rectangle 17"/>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0" name="TextBox 19"/>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11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17"/>
                </p:tgtEl>
              </p:cMediaNode>
            </p:audi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10. 事例③ 居酒屋での会話</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勤務後、同僚2人と居酒屋へ行った。隣席に聞こえる声量で「今日の田中さん、また失禁しちゃって大変だった」と話した。翌週、田中さんのご家族から施設に「うちの母の話を外でしているのか」と苦情の電話があった。隣席の客が家族の知人だった。</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どの行為が守秘義務違反にあたりますか？（複数）</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同僚と情報共有が必要なとき、どこで・どのように行うべきですか？</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同じ失敗をしないために、今日からできる個人のルールを1つ決めてください。</a:t>
            </a:r>
          </a:p>
        </p:txBody>
      </p:sp>
      <p:pic>
        <p:nvPicPr>
          <p:cNvPr id="13" name="04_12.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14" name="Rectangle 13"/>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6" name="TextBox 15"/>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12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13"/>
                </p:tgtEl>
              </p:cMediaNode>
            </p:audi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11. 事例④ SNSへの写真投稿</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職員Dさんが、夏祭りイベントで撮った利用者との集合写真をInstagramに投稿した。アカウントは鍵なし。ハッシュタグに施設名を入れていた。「楽しそうな様子を家族にも見てほしかった」とのこと。写真には認知症の利用者も複数写り込んでおり、家族の同意は得ていなかった。</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この投稿にはどんな問題がありますか？（個人情報／肖像権／守秘義務）</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写真を使って発信したい場合、事前にどんな手続きが必要ですか？</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施設としてSNS利用ルールを作るなら、どんな項目を入れますか？</a:t>
            </a:r>
          </a:p>
        </p:txBody>
      </p:sp>
      <p:pic>
        <p:nvPicPr>
          <p:cNvPr id="13" name="04_13.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14" name="Rectangle 13"/>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6" name="TextBox 15"/>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13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13"/>
                </p:tgtEl>
              </p:cMediaNode>
            </p:audi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12. 事例⑤ 家族からの電話照会</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夜勤中、「○○さんの息子です。母の今日の様子を教えてください」と電話があった。普段のキーパーソンは娘さん。息子さんの連絡先は記録になく、声も初めて聞く。時間が遅く、上司には連絡しづらい。Eさんはつい「今日は食事を半分残しました」と答えてしまった。</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Eさんの対応の問題点は何ですか？</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電話の相手が本当に家族かどうか、どう確認すべきですか？</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施設として「電話での情報提供ルール」を決めるなら何を入れますか？</a:t>
            </a:r>
          </a:p>
        </p:txBody>
      </p:sp>
      <p:pic>
        <p:nvPicPr>
          <p:cNvPr id="13" name="04_14.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14" name="Rectangle 13"/>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6" name="TextBox 15"/>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14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13"/>
                </p:tgtEl>
              </p:cMediaNode>
            </p:audi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13. 倫理的ジレンマに出会ったら（判断の手順）</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Step1：事実を整理する（誰が・何を・どこで・いつ・なぜ）</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Step2：関係する原則を挙げる（自己決定／安全／尊厳／公平）</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Step3：選択肢を複数出す（A案・B案・C案）</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Step4：それぞれの利点・リスクを比較する</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Step5：一人で決めず、上司・多職種に相談する</a:t>
            </a:r>
          </a:p>
        </p:txBody>
      </p:sp>
      <p:sp>
        <p:nvSpPr>
          <p:cNvPr id="15" name="Rectangle 14"/>
          <p:cNvSpPr/>
          <p:nvPr/>
        </p:nvSpPr>
        <p:spPr>
          <a:xfrm>
            <a:off x="432000" y="354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4000" y="338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Step6：決めた理由を『記録』に残す（後から検証できるように）</a:t>
            </a:r>
          </a:p>
        </p:txBody>
      </p:sp>
      <p:sp>
        <p:nvSpPr>
          <p:cNvPr id="17" name="Rectangle 16"/>
          <p:cNvSpPr/>
          <p:nvPr/>
        </p:nvSpPr>
        <p:spPr>
          <a:xfrm>
            <a:off x="360000" y="5832000"/>
            <a:ext cx="11484000" cy="612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3999" y="5886000"/>
            <a:ext cx="11160000" cy="540000"/>
          </a:xfrm>
          <a:prstGeom prst="rect">
            <a:avLst/>
          </a:prstGeom>
          <a:noFill/>
        </p:spPr>
        <p:txBody>
          <a:bodyPr wrap="square" lIns="36000" rIns="36000">
            <a:spAutoFit/>
          </a:bodyPr>
          <a:lstStyle/>
          <a:p>
            <a:pPr algn="l"/>
            <a:r>
              <a:rPr sz="1300" b="1">
                <a:solidFill>
                  <a:srgbClr val="1F4E79"/>
                </a:solidFill>
                <a:latin typeface="Yu Gothic"/>
                <a:ea typeface="Yu Gothic"/>
              </a:rPr>
              <a:t>▶ 迷う＝倫理的に考えている証拠。迷ったら相談が正解。</a:t>
            </a:r>
          </a:p>
        </p:txBody>
      </p:sp>
      <p:pic>
        <p:nvPicPr>
          <p:cNvPr id="19" name="04_15.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20" name="Rectangle 19"/>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2" name="TextBox 21"/>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15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19"/>
                </p:tgtEl>
              </p:cMediaNode>
            </p:audi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14. 事例⑥ 本人の希望 vs 安全</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利用者Fさん（80歳男性・軽度認知症）は「毎日散歩に行きたい」と強く希望する。しかし最近、道に迷い警察に保護されたことがある。家族は「もう外出させないで」と依頼。本人は「家に閉じ込められるなんてひどい」と怒っている。</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自己決定の尊重と、安全確保はどちらを優先すべきでしょうか？</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『外出ゼロ』『完全自由』以外に、どんな第3の選択肢がありますか？</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あなたが担当者なら、家族・本人・多職種でどんな合意形成を図りますか？</a:t>
            </a:r>
          </a:p>
        </p:txBody>
      </p:sp>
      <p:pic>
        <p:nvPicPr>
          <p:cNvPr id="13" name="04_16.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14" name="Rectangle 13"/>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6" name="TextBox 15"/>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16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13"/>
                </p:tgtEl>
              </p:cMediaNode>
            </p:audi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15. 関係法令の最低ライン</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介護保険法：サービス基準・人員配置・記録保存・秘密保持</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老人福祉法：福祉の理念・措置の枠組み</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高齢者虐待防止法：通報義務・早期発見・使用者による虐待も対象</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個人情報保護法：取得目的の明示・同意・適正管理</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労働基準法／労働安全衛生法：職員自身の健康と安全を守る</a:t>
            </a:r>
          </a:p>
        </p:txBody>
      </p:sp>
      <p:sp>
        <p:nvSpPr>
          <p:cNvPr id="15" name="Rectangle 14"/>
          <p:cNvSpPr/>
          <p:nvPr/>
        </p:nvSpPr>
        <p:spPr>
          <a:xfrm>
            <a:off x="432000" y="354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4000" y="338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身体拘束廃止（介護保険指定基準）：原則禁止・3要件を満たす場合のみ</a:t>
            </a:r>
          </a:p>
        </p:txBody>
      </p:sp>
      <p:sp>
        <p:nvSpPr>
          <p:cNvPr id="17" name="Rectangle 16"/>
          <p:cNvSpPr/>
          <p:nvPr/>
        </p:nvSpPr>
        <p:spPr>
          <a:xfrm>
            <a:off x="360000" y="5832000"/>
            <a:ext cx="11484000" cy="612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3999" y="5886000"/>
            <a:ext cx="11160000" cy="540000"/>
          </a:xfrm>
          <a:prstGeom prst="rect">
            <a:avLst/>
          </a:prstGeom>
          <a:noFill/>
        </p:spPr>
        <p:txBody>
          <a:bodyPr wrap="square" lIns="36000" rIns="36000">
            <a:spAutoFit/>
          </a:bodyPr>
          <a:lstStyle/>
          <a:p>
            <a:pPr algn="l"/>
            <a:r>
              <a:rPr sz="1300" b="1">
                <a:solidFill>
                  <a:srgbClr val="1F4E79"/>
                </a:solidFill>
                <a:latin typeface="Yu Gothic"/>
                <a:ea typeface="Yu Gothic"/>
              </a:rPr>
              <a:t>▶ 迷ったら『利用者にとって最善か』『記録に残して説明できるか』で判断。</a:t>
            </a:r>
          </a:p>
        </p:txBody>
      </p:sp>
      <p:pic>
        <p:nvPicPr>
          <p:cNvPr id="19" name="04_17.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20" name="Rectangle 19"/>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2" name="TextBox 21"/>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17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19"/>
                </p:tgtEl>
              </p:cMediaNode>
            </p:audi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自己チェック（受講後に記入）</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TextBox 4"/>
          <p:cNvSpPr txBox="1"/>
          <p:nvPr/>
        </p:nvSpPr>
        <p:spPr>
          <a:xfrm>
            <a:off x="360000" y="792000"/>
            <a:ext cx="11520000" cy="360000"/>
          </a:xfrm>
          <a:prstGeom prst="rect">
            <a:avLst/>
          </a:prstGeom>
          <a:noFill/>
        </p:spPr>
        <p:txBody>
          <a:bodyPr wrap="square" lIns="36000" rIns="36000">
            <a:spAutoFit/>
          </a:bodyPr>
          <a:lstStyle/>
          <a:p>
            <a:pPr algn="l"/>
            <a:r>
              <a:rPr sz="1400" b="0">
                <a:solidFill>
                  <a:srgbClr val="555555"/>
                </a:solidFill>
                <a:latin typeface="Yu Gothic"/>
                <a:ea typeface="Yu Gothic"/>
              </a:rPr>
              <a:t>できている=◎　ときどき=○　できていない=△</a:t>
            </a:r>
          </a:p>
        </p:txBody>
      </p:sp>
      <p:sp>
        <p:nvSpPr>
          <p:cNvPr id="6" name="Rectangle 5"/>
          <p:cNvSpPr/>
          <p:nvPr/>
        </p:nvSpPr>
        <p:spPr>
          <a:xfrm>
            <a:off x="10440000" y="129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40000" y="135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8" name="TextBox 7"/>
          <p:cNvSpPr txBox="1"/>
          <p:nvPr/>
        </p:nvSpPr>
        <p:spPr>
          <a:xfrm>
            <a:off x="360000" y="133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1.　利用者を氏名＋「さん」で呼んでいる</a:t>
            </a:r>
          </a:p>
        </p:txBody>
      </p:sp>
      <p:sp>
        <p:nvSpPr>
          <p:cNvPr id="9" name="Rectangle 8"/>
          <p:cNvSpPr/>
          <p:nvPr/>
        </p:nvSpPr>
        <p:spPr>
          <a:xfrm>
            <a:off x="10440000" y="1745999"/>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40000" y="180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11" name="TextBox 10"/>
          <p:cNvSpPr txBox="1"/>
          <p:nvPr/>
        </p:nvSpPr>
        <p:spPr>
          <a:xfrm>
            <a:off x="360000" y="178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2.　ケア前に必ず声かけと同意確認をしている</a:t>
            </a:r>
          </a:p>
        </p:txBody>
      </p:sp>
      <p:sp>
        <p:nvSpPr>
          <p:cNvPr id="12" name="Rectangle 11"/>
          <p:cNvSpPr/>
          <p:nvPr/>
        </p:nvSpPr>
        <p:spPr>
          <a:xfrm>
            <a:off x="10440000" y="219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40000" y="225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14" name="TextBox 13"/>
          <p:cNvSpPr txBox="1"/>
          <p:nvPr/>
        </p:nvSpPr>
        <p:spPr>
          <a:xfrm>
            <a:off x="360000" y="223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3.　居室・浴室・トイレでプライバシー配慮ができている</a:t>
            </a:r>
          </a:p>
        </p:txBody>
      </p:sp>
      <p:sp>
        <p:nvSpPr>
          <p:cNvPr id="15" name="Rectangle 14"/>
          <p:cNvSpPr/>
          <p:nvPr/>
        </p:nvSpPr>
        <p:spPr>
          <a:xfrm>
            <a:off x="10440000" y="264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40000" y="270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17" name="TextBox 16"/>
          <p:cNvSpPr txBox="1"/>
          <p:nvPr/>
        </p:nvSpPr>
        <p:spPr>
          <a:xfrm>
            <a:off x="360000" y="268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4.　家族・利用者情報を施設外で話題にしていない</a:t>
            </a:r>
          </a:p>
        </p:txBody>
      </p:sp>
      <p:sp>
        <p:nvSpPr>
          <p:cNvPr id="18" name="Rectangle 17"/>
          <p:cNvSpPr/>
          <p:nvPr/>
        </p:nvSpPr>
        <p:spPr>
          <a:xfrm>
            <a:off x="10440000" y="309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40000" y="315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20" name="TextBox 19"/>
          <p:cNvSpPr txBox="1"/>
          <p:nvPr/>
        </p:nvSpPr>
        <p:spPr>
          <a:xfrm>
            <a:off x="360000" y="3131999"/>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5.　SNSに業務・利用者に関する投稿をしていない</a:t>
            </a:r>
          </a:p>
        </p:txBody>
      </p:sp>
      <p:sp>
        <p:nvSpPr>
          <p:cNvPr id="21" name="Rectangle 20"/>
          <p:cNvSpPr/>
          <p:nvPr/>
        </p:nvSpPr>
        <p:spPr>
          <a:xfrm>
            <a:off x="10440000" y="354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40000" y="360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23" name="TextBox 22"/>
          <p:cNvSpPr txBox="1"/>
          <p:nvPr/>
        </p:nvSpPr>
        <p:spPr>
          <a:xfrm>
            <a:off x="360000" y="3581999"/>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6.　記録物（ノート・スマホ）を放置せず施錠管理している</a:t>
            </a:r>
          </a:p>
        </p:txBody>
      </p:sp>
      <p:sp>
        <p:nvSpPr>
          <p:cNvPr id="24" name="Rectangle 23"/>
          <p:cNvSpPr/>
          <p:nvPr/>
        </p:nvSpPr>
        <p:spPr>
          <a:xfrm>
            <a:off x="10440000" y="399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40000" y="405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26" name="TextBox 25"/>
          <p:cNvSpPr txBox="1"/>
          <p:nvPr/>
        </p:nvSpPr>
        <p:spPr>
          <a:xfrm>
            <a:off x="360000" y="4031999"/>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7.　電話での情報提供は本人確認後・上司確認後に行っている</a:t>
            </a:r>
          </a:p>
        </p:txBody>
      </p:sp>
      <p:sp>
        <p:nvSpPr>
          <p:cNvPr id="27" name="Rectangle 26"/>
          <p:cNvSpPr/>
          <p:nvPr/>
        </p:nvSpPr>
        <p:spPr>
          <a:xfrm>
            <a:off x="10440000" y="444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40000" y="450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29" name="TextBox 28"/>
          <p:cNvSpPr txBox="1"/>
          <p:nvPr/>
        </p:nvSpPr>
        <p:spPr>
          <a:xfrm>
            <a:off x="360000" y="448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8.　迷ったときは一人で判断せず上司・多職種に相談している</a:t>
            </a:r>
          </a:p>
        </p:txBody>
      </p:sp>
      <p:pic>
        <p:nvPicPr>
          <p:cNvPr id="30" name="04_18.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31" name="Rectangle 30"/>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33" name="TextBox 32"/>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18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30"/>
                </p:tgtEl>
              </p:cMediaNode>
            </p:audio>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まとめ・今日から実践すること</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4月　みんなの介護ゆうあい</a:t>
            </a:r>
          </a:p>
        </p:txBody>
      </p:sp>
      <p:sp>
        <p:nvSpPr>
          <p:cNvPr id="5" name="TextBox 4"/>
          <p:cNvSpPr txBox="1"/>
          <p:nvPr/>
        </p:nvSpPr>
        <p:spPr>
          <a:xfrm>
            <a:off x="360000" y="792000"/>
            <a:ext cx="11520000" cy="360000"/>
          </a:xfrm>
          <a:prstGeom prst="rect">
            <a:avLst/>
          </a:prstGeom>
          <a:noFill/>
        </p:spPr>
        <p:txBody>
          <a:bodyPr wrap="square" lIns="36000" rIns="36000">
            <a:spAutoFit/>
          </a:bodyPr>
          <a:lstStyle/>
          <a:p>
            <a:pPr algn="l"/>
            <a:r>
              <a:rPr sz="1800" b="1">
                <a:solidFill>
                  <a:srgbClr val="1F4E79"/>
                </a:solidFill>
                <a:latin typeface="Yu Gothic"/>
                <a:ea typeface="Yu Gothic"/>
              </a:rPr>
              <a:t>本日の要点</a:t>
            </a:r>
          </a:p>
        </p:txBody>
      </p:sp>
      <p:sp>
        <p:nvSpPr>
          <p:cNvPr id="6" name="Rectangle 5"/>
          <p:cNvSpPr/>
          <p:nvPr/>
        </p:nvSpPr>
        <p:spPr>
          <a:xfrm>
            <a:off x="396000" y="1368000"/>
            <a:ext cx="180000" cy="18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0000" y="1224000"/>
            <a:ext cx="10980000" cy="468000"/>
          </a:xfrm>
          <a:prstGeom prst="rect">
            <a:avLst/>
          </a:prstGeom>
          <a:noFill/>
        </p:spPr>
        <p:txBody>
          <a:bodyPr wrap="square" lIns="36000" rIns="36000">
            <a:spAutoFit/>
          </a:bodyPr>
          <a:lstStyle/>
          <a:p>
            <a:pPr algn="l"/>
            <a:r>
              <a:rPr sz="1600" b="0">
                <a:solidFill>
                  <a:srgbClr val="222222"/>
                </a:solidFill>
                <a:latin typeface="Yu Gothic"/>
                <a:ea typeface="Yu Gothic"/>
              </a:rPr>
              <a:t>倫理は『目指す姿』、法令は『最低ライン』。両方を意識する</a:t>
            </a:r>
          </a:p>
        </p:txBody>
      </p:sp>
      <p:sp>
        <p:nvSpPr>
          <p:cNvPr id="8" name="Rectangle 7"/>
          <p:cNvSpPr/>
          <p:nvPr/>
        </p:nvSpPr>
        <p:spPr>
          <a:xfrm>
            <a:off x="396000" y="1836000"/>
            <a:ext cx="180000" cy="18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000" y="1692000"/>
            <a:ext cx="10980000" cy="468000"/>
          </a:xfrm>
          <a:prstGeom prst="rect">
            <a:avLst/>
          </a:prstGeom>
          <a:noFill/>
        </p:spPr>
        <p:txBody>
          <a:bodyPr wrap="square" lIns="36000" rIns="36000">
            <a:spAutoFit/>
          </a:bodyPr>
          <a:lstStyle/>
          <a:p>
            <a:pPr algn="l"/>
            <a:r>
              <a:rPr sz="1600" b="0">
                <a:solidFill>
                  <a:srgbClr val="222222"/>
                </a:solidFill>
                <a:latin typeface="Yu Gothic"/>
                <a:ea typeface="Yu Gothic"/>
              </a:rPr>
              <a:t>尊厳を守る第一歩は『呼び方』と『声かけ』</a:t>
            </a:r>
          </a:p>
        </p:txBody>
      </p:sp>
      <p:sp>
        <p:nvSpPr>
          <p:cNvPr id="10" name="Rectangle 9"/>
          <p:cNvSpPr/>
          <p:nvPr/>
        </p:nvSpPr>
        <p:spPr>
          <a:xfrm>
            <a:off x="396000" y="2304000"/>
            <a:ext cx="180000" cy="18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2160000"/>
            <a:ext cx="10980000" cy="468000"/>
          </a:xfrm>
          <a:prstGeom prst="rect">
            <a:avLst/>
          </a:prstGeom>
          <a:noFill/>
        </p:spPr>
        <p:txBody>
          <a:bodyPr wrap="square" lIns="36000" rIns="36000">
            <a:spAutoFit/>
          </a:bodyPr>
          <a:lstStyle/>
          <a:p>
            <a:pPr algn="l"/>
            <a:r>
              <a:rPr sz="1600" b="0">
                <a:solidFill>
                  <a:srgbClr val="222222"/>
                </a:solidFill>
                <a:latin typeface="Yu Gothic"/>
                <a:ea typeface="Yu Gothic"/>
              </a:rPr>
              <a:t>守秘義務は退職後も続く。施設外・SNS・電話対応に注意</a:t>
            </a:r>
          </a:p>
        </p:txBody>
      </p:sp>
      <p:sp>
        <p:nvSpPr>
          <p:cNvPr id="12" name="Rectangle 11"/>
          <p:cNvSpPr/>
          <p:nvPr/>
        </p:nvSpPr>
        <p:spPr>
          <a:xfrm>
            <a:off x="396000" y="2772000"/>
            <a:ext cx="180000" cy="18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000" y="2628000"/>
            <a:ext cx="10980000" cy="468000"/>
          </a:xfrm>
          <a:prstGeom prst="rect">
            <a:avLst/>
          </a:prstGeom>
          <a:noFill/>
        </p:spPr>
        <p:txBody>
          <a:bodyPr wrap="square" lIns="36000" rIns="36000">
            <a:spAutoFit/>
          </a:bodyPr>
          <a:lstStyle/>
          <a:p>
            <a:pPr algn="l"/>
            <a:r>
              <a:rPr sz="1600" b="0">
                <a:solidFill>
                  <a:srgbClr val="222222"/>
                </a:solidFill>
                <a:latin typeface="Yu Gothic"/>
                <a:ea typeface="Yu Gothic"/>
              </a:rPr>
              <a:t>迷ったら一人で決めず、上司・多職種に相談し記録に残す</a:t>
            </a:r>
          </a:p>
        </p:txBody>
      </p:sp>
      <p:sp>
        <p:nvSpPr>
          <p:cNvPr id="14" name="Rectangle 13"/>
          <p:cNvSpPr/>
          <p:nvPr/>
        </p:nvSpPr>
        <p:spPr>
          <a:xfrm>
            <a:off x="360000" y="5040000"/>
            <a:ext cx="11484000" cy="1152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3999" y="5112000"/>
            <a:ext cx="11196000" cy="288000"/>
          </a:xfrm>
          <a:prstGeom prst="rect">
            <a:avLst/>
          </a:prstGeom>
          <a:noFill/>
        </p:spPr>
        <p:txBody>
          <a:bodyPr wrap="square" lIns="36000" rIns="36000">
            <a:spAutoFit/>
          </a:bodyPr>
          <a:lstStyle/>
          <a:p>
            <a:pPr algn="l"/>
            <a:r>
              <a:rPr sz="1500" b="1">
                <a:solidFill>
                  <a:srgbClr val="1F4E79"/>
                </a:solidFill>
                <a:latin typeface="Yu Gothic"/>
                <a:ea typeface="Yu Gothic"/>
              </a:rPr>
              <a:t>明日からの行動目標</a:t>
            </a:r>
          </a:p>
        </p:txBody>
      </p:sp>
      <p:sp>
        <p:nvSpPr>
          <p:cNvPr id="16" name="TextBox 15"/>
          <p:cNvSpPr txBox="1"/>
          <p:nvPr/>
        </p:nvSpPr>
        <p:spPr>
          <a:xfrm>
            <a:off x="503999" y="5436000"/>
            <a:ext cx="11196000" cy="720000"/>
          </a:xfrm>
          <a:prstGeom prst="rect">
            <a:avLst/>
          </a:prstGeom>
          <a:noFill/>
        </p:spPr>
        <p:txBody>
          <a:bodyPr wrap="square" lIns="36000" rIns="36000">
            <a:spAutoFit/>
          </a:bodyPr>
          <a:lstStyle/>
          <a:p>
            <a:pPr algn="l"/>
            <a:r>
              <a:rPr sz="1400" b="0">
                <a:solidFill>
                  <a:srgbClr val="222222"/>
                </a:solidFill>
                <a:latin typeface="Yu Gothic"/>
                <a:ea typeface="Yu Gothic"/>
              </a:rPr>
              <a:t>① 利用者を『○○さん』と呼び、ケア前の声かけを徹底する。② 休憩室・施設外・SNSでは利用者の個人情報を出さない。③ 電話での家族対応は本人確認を徹底し、迷ったら上司に確認してから答える。④ 判断に迷う場面があったら、次回カンファレンスで共有する。</a:t>
            </a:r>
          </a:p>
        </p:txBody>
      </p:sp>
      <p:pic>
        <p:nvPicPr>
          <p:cNvPr id="17" name="04_19.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
        <p:nvSpPr>
          <p:cNvPr id="18" name="Rectangle 17"/>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0" name="TextBox 19"/>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19 / 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17"/>
                </p:tgtEl>
              </p:cMediaNode>
            </p:audio>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2160000"/>
            <a:ext cx="11088000" cy="1080000"/>
          </a:xfrm>
          <a:prstGeom prst="rect">
            <a:avLst/>
          </a:prstGeom>
          <a:noFill/>
        </p:spPr>
        <p:txBody>
          <a:bodyPr wrap="square" lIns="36000" rIns="36000">
            <a:spAutoFit/>
          </a:bodyPr>
          <a:lstStyle/>
          <a:p>
            <a:pPr algn="ctr"/>
            <a:r>
              <a:rPr sz="6000" b="1">
                <a:solidFill>
                  <a:srgbClr val="FFFFFF"/>
                </a:solidFill>
                <a:latin typeface="Yu Gothic"/>
                <a:ea typeface="Yu Gothic"/>
              </a:rPr>
              <a:t>質疑応答</a:t>
            </a:r>
          </a:p>
        </p:txBody>
      </p:sp>
      <p:sp>
        <p:nvSpPr>
          <p:cNvPr id="4" name="TextBox 3"/>
          <p:cNvSpPr txBox="1"/>
          <p:nvPr/>
        </p:nvSpPr>
        <p:spPr>
          <a:xfrm>
            <a:off x="540000" y="3600000"/>
            <a:ext cx="11088000" cy="540000"/>
          </a:xfrm>
          <a:prstGeom prst="rect">
            <a:avLst/>
          </a:prstGeom>
          <a:noFill/>
        </p:spPr>
        <p:txBody>
          <a:bodyPr wrap="square" lIns="36000" rIns="36000">
            <a:spAutoFit/>
          </a:bodyPr>
          <a:lstStyle/>
          <a:p>
            <a:pPr algn="ctr"/>
            <a:r>
              <a:rPr sz="2200" b="0">
                <a:solidFill>
                  <a:srgbClr val="EEEEEE"/>
                </a:solidFill>
                <a:latin typeface="Yu Gothic"/>
                <a:ea typeface="Yu Gothic"/>
              </a:rPr>
              <a:t>ご清聴ありがとうございました</a:t>
            </a:r>
          </a:p>
        </p:txBody>
      </p:sp>
      <p:sp>
        <p:nvSpPr>
          <p:cNvPr id="5" name="TextBox 4"/>
          <p:cNvSpPr txBox="1"/>
          <p:nvPr/>
        </p:nvSpPr>
        <p:spPr>
          <a:xfrm>
            <a:off x="540000" y="5760000"/>
            <a:ext cx="11088000" cy="288000"/>
          </a:xfrm>
          <a:prstGeom prst="rect">
            <a:avLst/>
          </a:prstGeom>
          <a:noFill/>
        </p:spPr>
        <p:txBody>
          <a:bodyPr wrap="square" lIns="36000" rIns="36000">
            <a:spAutoFit/>
          </a:bodyPr>
          <a:lstStyle/>
          <a:p>
            <a:pPr algn="ctr"/>
            <a:r>
              <a:rPr sz="1200" b="0">
                <a:solidFill>
                  <a:srgbClr val="DDDDDD"/>
                </a:solidFill>
                <a:latin typeface="Yu Gothic"/>
                <a:ea typeface="Yu Gothic"/>
              </a:rPr>
              <a:t>4月　倫理・法令遵守　／　みんなの介護ゆうあい</a:t>
            </a:r>
          </a:p>
        </p:txBody>
      </p:sp>
      <p:pic>
        <p:nvPicPr>
          <p:cNvPr id="6" name="04_20.m4a">
            <a:hlinkClick r:id="" action="ppaction://media"/>
          </p:cNvPr>
          <p:cNvPicPr>
            <a:picLocks noChangeAspect="1"/>
          </p:cNvPicPr>
          <p:nvPr>
            <p:extLst>
              <p:ext uri="{DAA4B4D4-6D71-4841-9C94-3DE7FCFB9230}">
                <p14:media xmlns:p14="http://schemas.microsoft.com/office/powerpoint/2010/main" r:embed="rId3"/>
              </p:ext>
            </p:extLst>
            <a:audioFile r:link="rId4"/>
          </p:nvPr>
        </p:nvPicPr>
        <p:blipFill>
          <a:blip r:embed="rId5"/>
          <a:stretch>
            <a:fillRect/>
          </a:stretch>
        </p:blipFill>
        <p:spPr>
          <a:xfrm>
            <a:off x="11627999" y="6443999"/>
            <a:ext cx="360000" cy="36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afterEffect">
                                  <p:stCondLst>
                                    <p:cond delay="0"/>
                                  </p:stCondLst>
                                  <p:childTnLst>
                                    <p:cmd type="call" cmd="playFrom(0.0)">
                                      <p:cBhvr>
                                        <p:cTn id="6" dur="indefinite"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tgtEl>
                  <p:spTgt spid="6"/>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