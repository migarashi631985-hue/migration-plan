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月の職員研修を始めます。本日のテーマは、業務手順の確認、支援手順と記録です。新しい職員が増え、職場の運用が複雑になるほど、手順の標準化と、正確な記録、の重要性は増します。今日は、私たちの日々の業務を支える土台、手順書と記録について、改めて確認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到達目標は、次の5つです。1つ目、業務手順を標準化する意義を理解すること。2つ目、マニュアル、手順書の活用と更新の重要性を知ること。3つ目、客観的で再現性のある記録の書き方を身につけること。4つ目、申し送り、引き継ぎの基本を確認すること。5つ目、アセスメント、ケアプランと現場の関連を理解す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務手順の標準化、なぜ必要なのでしょうか。1つ目、誰がやっても同じ品質、同じ安全性を保つため。2つ目、新人や異動者が、迷わずに動けるため。3つ目、事故やヒヤリの再発を防ぐため。4つ目、業務の効率化、無駄を減らすため。5つ目、利用者にとっての一貫性、安心感を生むため。ベテランの『コツ』は、可視化、共有してこそ、施設全体の力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ニュアル、手順書について整理します。あるべき形、現場で実際に使われている、最新の状態に保たれている、図や写真でわかりやすい。ありがちな問題、棚の奥にある、誰も読まない、現場と乖離している、誰も更新していない。マニュアルは、書いて終わりではなく、回し続けるもの。新しい事故、新しい器具、制度改正、年1回以上の見直しを習慣に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ケアと標準化のバランスについて、お話しします。標準化は、土台。安全と品質を担保。個別性は、その上で、利用者一人ひとりに合わせた工夫。標準化を否定して、個別対応のみで動くと、誰も同じケアができなくなる。個別性を否定して、マニュアル一辺倒だと、利用者の尊厳が損なわれる。両方を意識し、現場で柔軟に組み合わせる、これが介護の専門性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意義について、確認します。1つ目、ケアの継続性。次の職員、次の勤務帯への引き継ぎ。2つ目、多職種連携。看護師、医師、ケアマネ、家族との情報共有。3つ目、利用者の状態変化の把握、評価。4つ目、事故やインシデント時の事実証明。5つ目、行政監査、報酬請求の根拠。記録は『書かされるもの』ではなく、『利用者と職員を守るもの』、と捉え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観的な記録の基本、5W1Hです。When、いつ。Where、どこで。Who、誰が。What、何をした、何が起きた。Why、なぜ。How、どのように。感情、推測、評価は最小限に。事実を中心に。誰が読んでも同じ場面が想像できる、これが客観的な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い記録と、悪い記録の例を比較します。悪い例。『機嫌が悪かった』『食事を残した』。良い例。『9時、声かけ時に表情が硬く、返事なし。9時半の朝食、主菜を3口で中止、水分は半分摂取』。数字、時刻、量、具体的な行動。感情の言葉、決めつけは避ける。良い記録は、ケアを変える材料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し送り、引き継ぎの基本です。目的、ケアの継続、情報の共有、変化への即応。内容、利用者の状態、当日のケア、未済の業務、家族からの連絡、事故・ヒヤリ。形式、口頭プラス記録、両方が原則。場所、人目人耳のない場所で。時間、必要な人だけが、簡潔に。『言ったつもり』『聞いたつもり』を避けるため、復唱、メモを取る、ことを徹底。</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セスメント、ケアプランと現場の関連です。アセスメントは、利用者の心身、生活、環境、家族、を多角的に評価する作業。ケアプランは、その評価に基づいて作られる、ケアの設計図。現場のケアは、ケアプランに沿って提供される。ケアプランと違うことを行う、現場で気づいた変化、これらは必ず記録し、次のアセスメントに反映。アセスメント、計画、実施、評価、これがPDCA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例を見ていきます。1つ目、申し送り漏れの場面です。日勤のA職員は、利用者KKさんが午後3時から微熱、と気づいたが、申し送りで言い忘れた。夜勤のB職員は、深夜にKKさんの発熱に気づき、看護師に連絡。看護師から『午後の状態は』と聞かれ、わからないと答えるしかなかった。ケアの遅れ、観察の継続性が損なわれた事例。申し送りは『大したことない』と思っても、必ず伝える、を原則に。</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主観的記録の事例です。C職員の記録、『LLさん、今日は元気がない様子、昨日のレクで疲れた様子』。後日、医師から『何時から、どんな状態だったか』と聞かれ、答えられなかった。様子、感じ、思う、これらは記録ではなく、感想。事実、時刻、行動、数値で書き直してみましょう。『元気がない』ではなく、『午前10時、朝食後、声かけに反応なし、表情硬く、自室で横になってい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マニュアル不在の事例です。新人のD職員が、入浴介助中、利用者MMさんの皮膚に発赤を見つけた。対応マニュアルがどこにあるかわからず、判断に迷い、『そのまま入浴続行』と判断。後日、褥瘡が進行、看護師に発見された。マニュアルが存在しても、『どこにあるか、いつ使うか』を共有しないと、現場では役に立たない。新人OJTの中で、マニュアルの場所、使い方、を一緒に確認する時間を作り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T記録、電子記録について触れます。タブレット、スマートフォン、介護記録ソフト、近年急速に普及しています。メリット、入力時間の短縮、検索が容易、多職種で同時参照、写真の添付。デメリット、誤入力、操作ミス、過信、停電時の対応。紙記録と電子記録、それぞれの長所短所を理解し、施設に合った運用を。電子記録の場合、パスワード管理、ログイン履歴、バックアップ、これらが追加で重要。</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業務手順のばらつきです。夜勤の入浴前準備、職員によって手順が異なる、と利用者から指摘がありました。ある職員は、お湯張りを先、ある職員はタオル準備を先。順番は些細でも、利用者にとっては『毎日同じ流れ』が安心感につながる。業務手順を見える化し、新人もベテランも同じ流れで動けるように。個別ケアと、標準化、両方の意味で大切なの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スキルを高める方法を紹介します。1つ目、他の職員の良い記録を読む。学びの宝庫。2つ目、自分の記録を、後日読み返す。客観性の自己点検。3つ目、研修やケース検討で、書き方を共有する。4つ目、記録時間を、業務時間に確保する。後回しにしない。5つ目、記録ツールに慣れる、テンプレートを活用する。記録は、技術。練習で必ず上達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務手順と記録は、行政監査でも重視されます。計画、実施、評価、記録、これらが整合しているか。ケアプランどおりのケアが提供されているか。事故・ヒヤリの記録と、再発防止の取り組みが見えるか。監査のためではなく、利用者と職員を守るために、日々の記録を大切にする。結果として、監査でも信頼される施設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自己チェックに進みます。8項目について、できている、ときどき、できていない、の3段階で振り返ってください。記録と手順は、『日々の積み重ね』で差がつきます。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まとめです。業務手順の標準化は、安全・品質・効率・新人教育・利用者の安心を守る土台。個別ケアと標準化、両方を意識して柔軟に組み合わせる。記録は5W1Hで客観的に。事実、時刻、行動、数値で書く。申し送りは『言ったつもり』『聞いたつもり』を避ける。復唱とメモ。ケアプランと記録、アセスメントを連動させ、PDCAを回す。明日からの行動として、自分の記録を1件読み返す、申し送りで復唱、マニュアルの場所確認、この3点を意識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研修は以上です。ご清聴ありがとうございました。業務手順や記録は、地味な作業に見えますが、私たちの仕事の質を支える大切な要素です。現場で困っていること、改善したいこと、書き方で迷うこと、何でもお聞かせください。皆で、わかりやすい、使いやすい仕組みを作っていきましょ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40000"/>
            <a:ext cx="121932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576000"/>
            <a:ext cx="10800000" cy="432000"/>
          </a:xfrm>
          <a:prstGeom prst="rect">
            <a:avLst/>
          </a:prstGeom>
          <a:noFill/>
        </p:spPr>
        <p:txBody>
          <a:bodyPr wrap="square" lIns="36000" rIns="36000">
            <a:spAutoFit/>
          </a:bodyPr>
          <a:lstStyle/>
          <a:p>
            <a:pPr algn="l"/>
            <a:r>
              <a:rPr sz="2200" b="1">
                <a:solidFill>
                  <a:srgbClr val="FFFFFF"/>
                </a:solidFill>
                <a:latin typeface="Yu Gothic"/>
                <a:ea typeface="Yu Gothic"/>
              </a:rPr>
              <a:t>2月　職員研修</a:t>
            </a:r>
          </a:p>
        </p:txBody>
      </p:sp>
      <p:sp>
        <p:nvSpPr>
          <p:cNvPr id="5" name="TextBox 4"/>
          <p:cNvSpPr txBox="1"/>
          <p:nvPr/>
        </p:nvSpPr>
        <p:spPr>
          <a:xfrm>
            <a:off x="540000" y="2484000"/>
            <a:ext cx="11088000" cy="720000"/>
          </a:xfrm>
          <a:prstGeom prst="rect">
            <a:avLst/>
          </a:prstGeom>
          <a:noFill/>
        </p:spPr>
        <p:txBody>
          <a:bodyPr wrap="square" lIns="36000" rIns="36000">
            <a:spAutoFit/>
          </a:bodyPr>
          <a:lstStyle/>
          <a:p>
            <a:pPr algn="l"/>
            <a:r>
              <a:rPr sz="4000" b="1">
                <a:solidFill>
                  <a:srgbClr val="1F4E79"/>
                </a:solidFill>
                <a:latin typeface="Yu Gothic"/>
                <a:ea typeface="Yu Gothic"/>
              </a:rPr>
              <a:t>業務手順確認</a:t>
            </a:r>
          </a:p>
        </p:txBody>
      </p:sp>
      <p:sp>
        <p:nvSpPr>
          <p:cNvPr id="6" name="TextBox 5"/>
          <p:cNvSpPr txBox="1"/>
          <p:nvPr/>
        </p:nvSpPr>
        <p:spPr>
          <a:xfrm>
            <a:off x="540000" y="3528000"/>
            <a:ext cx="11088000" cy="540000"/>
          </a:xfrm>
          <a:prstGeom prst="rect">
            <a:avLst/>
          </a:prstGeom>
          <a:noFill/>
        </p:spPr>
        <p:txBody>
          <a:bodyPr wrap="square" lIns="36000" rIns="36000">
            <a:spAutoFit/>
          </a:bodyPr>
          <a:lstStyle/>
          <a:p>
            <a:pPr algn="l"/>
            <a:r>
              <a:rPr sz="2000" b="0">
                <a:solidFill>
                  <a:srgbClr val="222222"/>
                </a:solidFill>
                <a:latin typeface="Yu Gothic"/>
                <a:ea typeface="Yu Gothic"/>
              </a:rPr>
              <a:t>支援手順の標準化と『使える』記録</a:t>
            </a:r>
          </a:p>
        </p:txBody>
      </p:sp>
      <p:sp>
        <p:nvSpPr>
          <p:cNvPr id="7" name="TextBox 6"/>
          <p:cNvSpPr txBox="1"/>
          <p:nvPr/>
        </p:nvSpPr>
        <p:spPr>
          <a:xfrm>
            <a:off x="540000" y="4860000"/>
            <a:ext cx="11088000" cy="360000"/>
          </a:xfrm>
          <a:prstGeom prst="rect">
            <a:avLst/>
          </a:prstGeom>
          <a:noFill/>
        </p:spPr>
        <p:txBody>
          <a:bodyPr wrap="square" lIns="36000" rIns="36000">
            <a:spAutoFit/>
          </a:bodyPr>
          <a:lstStyle/>
          <a:p>
            <a:pPr algn="l"/>
            <a:r>
              <a:rPr sz="2200" b="1">
                <a:solidFill>
                  <a:srgbClr val="FFFFFF"/>
                </a:solidFill>
                <a:latin typeface="Yu Gothic"/>
                <a:ea typeface="Yu Gothic"/>
              </a:rPr>
              <a:t>みんなの介護ゆうあい</a:t>
            </a:r>
          </a:p>
        </p:txBody>
      </p:sp>
      <p:sp>
        <p:nvSpPr>
          <p:cNvPr id="8" name="TextBox 7"/>
          <p:cNvSpPr txBox="1"/>
          <p:nvPr/>
        </p:nvSpPr>
        <p:spPr>
          <a:xfrm>
            <a:off x="540000" y="5400000"/>
            <a:ext cx="11088000" cy="288000"/>
          </a:xfrm>
          <a:prstGeom prst="rect">
            <a:avLst/>
          </a:prstGeom>
          <a:noFill/>
        </p:spPr>
        <p:txBody>
          <a:bodyPr wrap="square" lIns="36000" rIns="36000">
            <a:spAutoFit/>
          </a:bodyPr>
          <a:lstStyle/>
          <a:p>
            <a:pPr algn="l"/>
            <a:r>
              <a:rPr sz="1400" b="0">
                <a:solidFill>
                  <a:srgbClr val="EEEEEE"/>
                </a:solidFill>
                <a:latin typeface="Yu Gothic"/>
                <a:ea typeface="Yu Gothic"/>
              </a:rPr>
              <a:t>実施方法：集合研修＋現場OJT</a:t>
            </a:r>
          </a:p>
        </p:txBody>
      </p:sp>
      <p:sp>
        <p:nvSpPr>
          <p:cNvPr id="9" name="TextBox 8"/>
          <p:cNvSpPr txBox="1"/>
          <p:nvPr/>
        </p:nvSpPr>
        <p:spPr>
          <a:xfrm>
            <a:off x="540000" y="5760000"/>
            <a:ext cx="11088000" cy="288000"/>
          </a:xfrm>
          <a:prstGeom prst="rect">
            <a:avLst/>
          </a:prstGeom>
          <a:noFill/>
        </p:spPr>
        <p:txBody>
          <a:bodyPr wrap="square" lIns="36000" rIns="36000">
            <a:spAutoFit/>
          </a:bodyPr>
          <a:lstStyle/>
          <a:p>
            <a:pPr algn="l"/>
            <a:r>
              <a:rPr sz="1200" b="0">
                <a:solidFill>
                  <a:srgbClr val="DDDDDD"/>
                </a:solidFill>
                <a:latin typeface="Yu Gothic"/>
                <a:ea typeface="Yu Gothic"/>
              </a:rPr>
              <a:t>進行：＿＿＿＿＿（施設内担当）　　日時：＿＿＿＿＿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本日の目的と到達目標</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600" b="0">
                <a:solidFill>
                  <a:srgbClr val="555555"/>
                </a:solidFill>
                <a:latin typeface="Yu Gothic"/>
                <a:ea typeface="Yu Gothic"/>
              </a:rPr>
              <a:t>この研修が終わったとき、受講者は次ができるようになります。</a:t>
            </a:r>
          </a:p>
        </p:txBody>
      </p:sp>
      <p:sp>
        <p:nvSpPr>
          <p:cNvPr id="6" name="Rectangle 5"/>
          <p:cNvSpPr/>
          <p:nvPr/>
        </p:nvSpPr>
        <p:spPr>
          <a:xfrm>
            <a:off x="360000" y="1440000"/>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000" y="1440000"/>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1</a:t>
            </a:r>
          </a:p>
        </p:txBody>
      </p:sp>
      <p:sp>
        <p:nvSpPr>
          <p:cNvPr id="8" name="TextBox 7"/>
          <p:cNvSpPr txBox="1"/>
          <p:nvPr/>
        </p:nvSpPr>
        <p:spPr>
          <a:xfrm>
            <a:off x="936000" y="1458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業務手順を標準化する意義を理解する</a:t>
            </a:r>
          </a:p>
        </p:txBody>
      </p:sp>
      <p:sp>
        <p:nvSpPr>
          <p:cNvPr id="9" name="Rectangle 8"/>
          <p:cNvSpPr/>
          <p:nvPr/>
        </p:nvSpPr>
        <p:spPr>
          <a:xfrm>
            <a:off x="360000" y="2015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015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2</a:t>
            </a:r>
          </a:p>
        </p:txBody>
      </p:sp>
      <p:sp>
        <p:nvSpPr>
          <p:cNvPr id="11" name="TextBox 10"/>
          <p:cNvSpPr txBox="1"/>
          <p:nvPr/>
        </p:nvSpPr>
        <p:spPr>
          <a:xfrm>
            <a:off x="936000" y="2033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マニュアル・手順書の活用と更新の重要性を知る</a:t>
            </a:r>
          </a:p>
        </p:txBody>
      </p:sp>
      <p:sp>
        <p:nvSpPr>
          <p:cNvPr id="12" name="Rectangle 11"/>
          <p:cNvSpPr/>
          <p:nvPr/>
        </p:nvSpPr>
        <p:spPr>
          <a:xfrm>
            <a:off x="360000" y="2591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00" y="2591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3</a:t>
            </a:r>
          </a:p>
        </p:txBody>
      </p:sp>
      <p:sp>
        <p:nvSpPr>
          <p:cNvPr id="14" name="TextBox 13"/>
          <p:cNvSpPr txBox="1"/>
          <p:nvPr/>
        </p:nvSpPr>
        <p:spPr>
          <a:xfrm>
            <a:off x="936000" y="2609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客観的で再現性のある記録の書き方を身につける</a:t>
            </a:r>
          </a:p>
        </p:txBody>
      </p:sp>
      <p:sp>
        <p:nvSpPr>
          <p:cNvPr id="15" name="Rectangle 14"/>
          <p:cNvSpPr/>
          <p:nvPr/>
        </p:nvSpPr>
        <p:spPr>
          <a:xfrm>
            <a:off x="360000" y="3167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00" y="3167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4</a:t>
            </a:r>
          </a:p>
        </p:txBody>
      </p:sp>
      <p:sp>
        <p:nvSpPr>
          <p:cNvPr id="17" name="TextBox 16"/>
          <p:cNvSpPr txBox="1"/>
          <p:nvPr/>
        </p:nvSpPr>
        <p:spPr>
          <a:xfrm>
            <a:off x="936000" y="3186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申し送り・引き継ぎの基本を確認する</a:t>
            </a:r>
          </a:p>
        </p:txBody>
      </p:sp>
      <p:sp>
        <p:nvSpPr>
          <p:cNvPr id="18" name="Rectangle 17"/>
          <p:cNvSpPr/>
          <p:nvPr/>
        </p:nvSpPr>
        <p:spPr>
          <a:xfrm>
            <a:off x="360000" y="3743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3743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5</a:t>
            </a:r>
          </a:p>
        </p:txBody>
      </p:sp>
      <p:sp>
        <p:nvSpPr>
          <p:cNvPr id="20" name="TextBox 19"/>
          <p:cNvSpPr txBox="1"/>
          <p:nvPr/>
        </p:nvSpPr>
        <p:spPr>
          <a:xfrm>
            <a:off x="936000" y="3761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アセスメント・ケアプランと記録の連動を理解する</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 業務手順の標準化の意義</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誰がやっても同じ品質・同じ安全性を保つため</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新人・異動者が迷わず動けるため</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事故・ヒヤリの再発を防ぐため</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業務効率化・無駄を減らすため</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利用者の一貫性・安心感を生むため</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ベテランの『コツ』は可視化してこそ施設全体の力になる。</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2. マニュアル・手順書の使い方と更新</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あるべき形</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・現場で実際に使われている</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・最新の状態に保たれている</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・図・写真でわかりやすい</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・新人のOJTでも使える</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・改訂履歴が残っている</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ありがちな問題</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・棚の奥にある</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・誰も読まない</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・現場と乖離している</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・誰も更新していない</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・電子・紙の所在が不明</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3. 個別ケアと標準化のバランス</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標準化は土台。安全と品質を担保する</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個別性は土台の上で利用者に合わせて工夫する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標準化を否定→誰も同じケアができなくなる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個別性を否定→利用者の尊厳が損なわれる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両方を柔軟に組み合わせるのが介護の専門性</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4. 記録の意義（5つの役割）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ケアの継続性（次の職員・勤務帯への引き継ぎ）</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多職種連携（看護・医師・ケアマネ・家族）</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状態変化の把握・評価</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事故・インシデント時の事実証明</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行政監査・報酬請求の根拠</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『書かされる』ではなく『利用者と職員を守るもの』と捉える。</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5. 客観的な記録 5W1H</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When：いつ（時刻まで具体的に）</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Where：どこで</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Who：誰が</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What：何をした／何が起きた</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Why：なぜ（必要に応じて）</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How：どのように</a:t>
            </a:r>
          </a:p>
        </p:txBody>
      </p:sp>
      <p:sp>
        <p:nvSpPr>
          <p:cNvPr id="17" name="Rectangle 16"/>
          <p:cNvSpPr/>
          <p:nvPr/>
        </p:nvSpPr>
        <p:spPr>
          <a:xfrm>
            <a:off x="432000" y="405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4000" y="388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感情・推測・評価は最小限に</a:t>
            </a:r>
          </a:p>
        </p:txBody>
      </p:sp>
      <p:sp>
        <p:nvSpPr>
          <p:cNvPr id="19" name="Rectangle 18"/>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1" name="TextBox 20"/>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6. 良い記録 vs 悪い記録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悪い記録の例</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・『機嫌が悪かった』</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・『食事を残した』</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・『元気がない様子』</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・『なんとなく落ち着かない』</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・『前と同じ』</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良い記録の例</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・『9時 声かけ時 表情硬く返事なし』</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・『朝食 主菜3口で中止／水分1/2』</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・『歩行時ふらつき2回 SpO2 95%』</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・『13時 落ち着かず居室を5回出入り』</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・『検温37.2度 顔色やや赤』</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7. 申し送り・引き継ぎの基本</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目的：ケアの継続／情報共有／変化への即応</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内容：状態・当日のケア・未済業務・家族連絡・事故ヒヤリ</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形式：口頭＋記録の両方</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場所：人目人耳のない場所で</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対策：復唱・メモ・要約で『言ったつもり』を防ぐ</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8. アセスメント・ケアプランと記録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アセスメント：心身・生活・環境・家族を多角的に評価</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ケアプラン：評価に基づくケアの設計図</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現場のケアはケアプランに沿って提供</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計画と異なる場面・新たな気づきは必ず記録</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アセスメント → 計画 → 実施 → 評価 の PDCA を回す</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9. 事例① 申し送り漏れ</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日勤A職員は、KKさんが午後3時から微熱と気づいたが申し送りで言い忘れた。夜勤B職員は深夜に発熱に気づき看護師に連絡。看護師から『午後の状態は』と聞かれ答えられなかった。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なぜ言い忘れが起きたと考えますか？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申し送りで漏らさない仕組み（チェックリスト・テンプレート）を提案してください。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『大したことない』を判断する基準を職場で揃えてください。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10. 事例② 主観的な記録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C職員の記録：『LLさん、今日は元気がない様子、昨日のレクで疲れた様子』。後日、医師から『何時から、どんな状態だったか』と聞かれ答えられなかった。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この記録のどこが問題ですか？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客観的に書き直してください（時刻・行動・数値）。</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感想と事実を分けるルールを職場で決めてください。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11. 事例③ マニュアルの所在不明</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新人D職員が入浴介助中に皮膚の発赤を発見。対応マニュアルがどこにあるか分からず、判断に迷い『そのまま続行』。後日、褥瘡進行を看護師に発見された。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マニュアルの所在・使い方を新人にどう伝えますか？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緊急時の判断ルート（誰に・どう連絡）を整理してください。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OJT で『マニュアルを使う場面』を一緒に確認していますか？</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12. ICT 記録（タブレット・電子記録）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メリット</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・入力時間の短縮</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・検索が容易</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・多職種で同時参照</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・写真の添付が簡単</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・履歴が残る</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注意点</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・誤入力・操作ミス</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・過信・思い込み</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・停電時の対応</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・パスワード・ログイン履歴の管理</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・バックアップ体制</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13. 事例④ 業務手順のばらつき</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夜勤の入浴前準備、職員によって手順が異なると利用者から指摘。ある職員はお湯張り先、ある職員はタオル準備先。</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順番のばらつきが利用者にどんな影響を与えますか？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手順を統一しつつ個別性を残す方法は？</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新人もベテランも同じ流れで動ける可視化の工夫を考えてください。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14. 記録のスキルを高める方法</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他の職員の良い記録を読む</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自分の記録を後日読み返す</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研修・ケース検討で書き方を共有する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記録時間を業務時間に確保する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記録ツールに慣れる／テンプレートを活用</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15. 監査と評価との関係</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監査では『計画・実施・評価・記録』の整合性を確認</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ケアプラン通りのケアが提供されているか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事故・ヒヤリの記録と再発防止の取組みが見えるか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『監査のため』ではなく『利用者と職員を守るため』</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結果として監査でも信頼される施設になる</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自己チェック（受講後に記入）</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400" b="0">
                <a:solidFill>
                  <a:srgbClr val="555555"/>
                </a:solidFill>
                <a:latin typeface="Yu Gothic"/>
                <a:ea typeface="Yu Gothic"/>
              </a:rPr>
              <a:t>できている=◎　ときどき=○　できていない=△</a:t>
            </a:r>
          </a:p>
        </p:txBody>
      </p:sp>
      <p:sp>
        <p:nvSpPr>
          <p:cNvPr id="6" name="Rectangle 5"/>
          <p:cNvSpPr/>
          <p:nvPr/>
        </p:nvSpPr>
        <p:spPr>
          <a:xfrm>
            <a:off x="10440000" y="12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40000" y="13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8" name="TextBox 7"/>
          <p:cNvSpPr txBox="1"/>
          <p:nvPr/>
        </p:nvSpPr>
        <p:spPr>
          <a:xfrm>
            <a:off x="360000" y="13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1.　業務手順書の場所と最新版を知っている</a:t>
            </a:r>
          </a:p>
        </p:txBody>
      </p:sp>
      <p:sp>
        <p:nvSpPr>
          <p:cNvPr id="9" name="Rectangle 8"/>
          <p:cNvSpPr/>
          <p:nvPr/>
        </p:nvSpPr>
        <p:spPr>
          <a:xfrm>
            <a:off x="10440000" y="1745999"/>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40000" y="18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1" name="TextBox 10"/>
          <p:cNvSpPr txBox="1"/>
          <p:nvPr/>
        </p:nvSpPr>
        <p:spPr>
          <a:xfrm>
            <a:off x="360000" y="17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2.　新人や異動者に手順を説明できる</a:t>
            </a:r>
          </a:p>
        </p:txBody>
      </p:sp>
      <p:sp>
        <p:nvSpPr>
          <p:cNvPr id="12" name="Rectangle 11"/>
          <p:cNvSpPr/>
          <p:nvPr/>
        </p:nvSpPr>
        <p:spPr>
          <a:xfrm>
            <a:off x="10440000" y="21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40000" y="22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4" name="TextBox 13"/>
          <p:cNvSpPr txBox="1"/>
          <p:nvPr/>
        </p:nvSpPr>
        <p:spPr>
          <a:xfrm>
            <a:off x="360000" y="22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3.　5W1H で客観的に記録できる</a:t>
            </a:r>
          </a:p>
        </p:txBody>
      </p:sp>
      <p:sp>
        <p:nvSpPr>
          <p:cNvPr id="15" name="Rectangle 14"/>
          <p:cNvSpPr/>
          <p:nvPr/>
        </p:nvSpPr>
        <p:spPr>
          <a:xfrm>
            <a:off x="10440000" y="26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40000" y="27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7" name="TextBox 16"/>
          <p:cNvSpPr txBox="1"/>
          <p:nvPr/>
        </p:nvSpPr>
        <p:spPr>
          <a:xfrm>
            <a:off x="360000" y="26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4.　感情語・主観表現を避けている</a:t>
            </a:r>
          </a:p>
        </p:txBody>
      </p:sp>
      <p:sp>
        <p:nvSpPr>
          <p:cNvPr id="18" name="Rectangle 17"/>
          <p:cNvSpPr/>
          <p:nvPr/>
        </p:nvSpPr>
        <p:spPr>
          <a:xfrm>
            <a:off x="10440000" y="30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0000" y="31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0" name="TextBox 19"/>
          <p:cNvSpPr txBox="1"/>
          <p:nvPr/>
        </p:nvSpPr>
        <p:spPr>
          <a:xfrm>
            <a:off x="360000" y="31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5.　申し送りで復唱・メモを実施している</a:t>
            </a:r>
          </a:p>
        </p:txBody>
      </p:sp>
      <p:sp>
        <p:nvSpPr>
          <p:cNvPr id="21" name="Rectangle 20"/>
          <p:cNvSpPr/>
          <p:nvPr/>
        </p:nvSpPr>
        <p:spPr>
          <a:xfrm>
            <a:off x="10440000" y="35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40000" y="36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3" name="TextBox 22"/>
          <p:cNvSpPr txBox="1"/>
          <p:nvPr/>
        </p:nvSpPr>
        <p:spPr>
          <a:xfrm>
            <a:off x="360000" y="358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6.　ケアプランの内容を確認している</a:t>
            </a:r>
          </a:p>
        </p:txBody>
      </p:sp>
      <p:sp>
        <p:nvSpPr>
          <p:cNvPr id="24" name="Rectangle 23"/>
          <p:cNvSpPr/>
          <p:nvPr/>
        </p:nvSpPr>
        <p:spPr>
          <a:xfrm>
            <a:off x="10440000" y="39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0000" y="40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6" name="TextBox 25"/>
          <p:cNvSpPr txBox="1"/>
          <p:nvPr/>
        </p:nvSpPr>
        <p:spPr>
          <a:xfrm>
            <a:off x="360000" y="40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7.　ICT 記録のパスワード・ロックを徹底している</a:t>
            </a:r>
          </a:p>
        </p:txBody>
      </p:sp>
      <p:sp>
        <p:nvSpPr>
          <p:cNvPr id="27" name="Rectangle 26"/>
          <p:cNvSpPr/>
          <p:nvPr/>
        </p:nvSpPr>
        <p:spPr>
          <a:xfrm>
            <a:off x="10440000" y="44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000" y="45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9" name="TextBox 28"/>
          <p:cNvSpPr txBox="1"/>
          <p:nvPr/>
        </p:nvSpPr>
        <p:spPr>
          <a:xfrm>
            <a:off x="360000" y="44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8.　事故・ヒヤリの記録を後で振り返っている</a:t>
            </a:r>
          </a:p>
        </p:txBody>
      </p:sp>
      <p:sp>
        <p:nvSpPr>
          <p:cNvPr id="30" name="Rectangle 29"/>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32" name="TextBox 31"/>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まとめ・今日から実践すること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2月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800" b="1">
                <a:solidFill>
                  <a:srgbClr val="1F4E79"/>
                </a:solidFill>
                <a:latin typeface="Yu Gothic"/>
                <a:ea typeface="Yu Gothic"/>
              </a:rPr>
              <a:t>本日の要点</a:t>
            </a:r>
          </a:p>
        </p:txBody>
      </p:sp>
      <p:sp>
        <p:nvSpPr>
          <p:cNvPr id="6" name="Rectangle 5"/>
          <p:cNvSpPr/>
          <p:nvPr/>
        </p:nvSpPr>
        <p:spPr>
          <a:xfrm>
            <a:off x="396000" y="1368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0000" y="1224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標準化は安全・品質・効率・新人教育・利用者の安心を守る土台</a:t>
            </a:r>
          </a:p>
        </p:txBody>
      </p:sp>
      <p:sp>
        <p:nvSpPr>
          <p:cNvPr id="8" name="Rectangle 7"/>
          <p:cNvSpPr/>
          <p:nvPr/>
        </p:nvSpPr>
        <p:spPr>
          <a:xfrm>
            <a:off x="396000" y="1836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92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個別ケアと標準化を柔軟に組み合わせるのが専門性</a:t>
            </a:r>
          </a:p>
        </p:txBody>
      </p:sp>
      <p:sp>
        <p:nvSpPr>
          <p:cNvPr id="10" name="Rectangle 9"/>
          <p:cNvSpPr/>
          <p:nvPr/>
        </p:nvSpPr>
        <p:spPr>
          <a:xfrm>
            <a:off x="396000" y="2304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記録は5W1H・事実・時刻・行動・数値で客観的に</a:t>
            </a:r>
          </a:p>
        </p:txBody>
      </p:sp>
      <p:sp>
        <p:nvSpPr>
          <p:cNvPr id="12" name="Rectangle 11"/>
          <p:cNvSpPr/>
          <p:nvPr/>
        </p:nvSpPr>
        <p:spPr>
          <a:xfrm>
            <a:off x="396000" y="2772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628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申し送りは復唱・メモで『言ったつもり』を防ぐ</a:t>
            </a:r>
          </a:p>
        </p:txBody>
      </p:sp>
      <p:sp>
        <p:nvSpPr>
          <p:cNvPr id="14" name="Rectangle 13"/>
          <p:cNvSpPr/>
          <p:nvPr/>
        </p:nvSpPr>
        <p:spPr>
          <a:xfrm>
            <a:off x="396000" y="3240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096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アセスメント → 計画 → 実施 → 評価 の PDCA を回す</a:t>
            </a:r>
          </a:p>
        </p:txBody>
      </p:sp>
      <p:sp>
        <p:nvSpPr>
          <p:cNvPr id="16" name="Rectangle 15"/>
          <p:cNvSpPr/>
          <p:nvPr/>
        </p:nvSpPr>
        <p:spPr>
          <a:xfrm>
            <a:off x="360000" y="5040000"/>
            <a:ext cx="11484000" cy="115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3999" y="5112000"/>
            <a:ext cx="11196000" cy="288000"/>
          </a:xfrm>
          <a:prstGeom prst="rect">
            <a:avLst/>
          </a:prstGeom>
          <a:noFill/>
        </p:spPr>
        <p:txBody>
          <a:bodyPr wrap="square" lIns="36000" rIns="36000">
            <a:spAutoFit/>
          </a:bodyPr>
          <a:lstStyle/>
          <a:p>
            <a:pPr algn="l"/>
            <a:r>
              <a:rPr sz="1500" b="1">
                <a:solidFill>
                  <a:srgbClr val="1F4E79"/>
                </a:solidFill>
                <a:latin typeface="Yu Gothic"/>
                <a:ea typeface="Yu Gothic"/>
              </a:rPr>
              <a:t>明日からの行動目標</a:t>
            </a:r>
          </a:p>
        </p:txBody>
      </p:sp>
      <p:sp>
        <p:nvSpPr>
          <p:cNvPr id="18" name="TextBox 17"/>
          <p:cNvSpPr txBox="1"/>
          <p:nvPr/>
        </p:nvSpPr>
        <p:spPr>
          <a:xfrm>
            <a:off x="503999" y="5436000"/>
            <a:ext cx="11196000" cy="720000"/>
          </a:xfrm>
          <a:prstGeom prst="rect">
            <a:avLst/>
          </a:prstGeom>
          <a:noFill/>
        </p:spPr>
        <p:txBody>
          <a:bodyPr wrap="square" lIns="36000" rIns="36000">
            <a:spAutoFit/>
          </a:bodyPr>
          <a:lstStyle/>
          <a:p>
            <a:pPr algn="l"/>
            <a:r>
              <a:rPr sz="1400" b="0">
                <a:solidFill>
                  <a:srgbClr val="222222"/>
                </a:solidFill>
                <a:latin typeface="Yu Gothic"/>
                <a:ea typeface="Yu Gothic"/>
              </a:rPr>
              <a:t>① 自分の最近の記録を1件、客観性の観点で読み返す。② 申し送り時に1つは復唱を意識する。③ 自部署のマニュアルの場所・最新版を確認する。④ 業務手順のばらつきに気づいたらケース検討で共有する。</a:t>
            </a:r>
          </a:p>
        </p:txBody>
      </p:sp>
      <p:sp>
        <p:nvSpPr>
          <p:cNvPr id="19" name="Rectangle 18"/>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1" name="TextBox 20"/>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2160000"/>
            <a:ext cx="11088000" cy="1080000"/>
          </a:xfrm>
          <a:prstGeom prst="rect">
            <a:avLst/>
          </a:prstGeom>
          <a:noFill/>
        </p:spPr>
        <p:txBody>
          <a:bodyPr wrap="square" lIns="36000" rIns="36000">
            <a:spAutoFit/>
          </a:bodyPr>
          <a:lstStyle/>
          <a:p>
            <a:pPr algn="ctr"/>
            <a:r>
              <a:rPr sz="6000" b="1">
                <a:solidFill>
                  <a:srgbClr val="FFFFFF"/>
                </a:solidFill>
                <a:latin typeface="Yu Gothic"/>
                <a:ea typeface="Yu Gothic"/>
              </a:rPr>
              <a:t>質疑応答</a:t>
            </a:r>
          </a:p>
        </p:txBody>
      </p:sp>
      <p:sp>
        <p:nvSpPr>
          <p:cNvPr id="4" name="TextBox 3"/>
          <p:cNvSpPr txBox="1"/>
          <p:nvPr/>
        </p:nvSpPr>
        <p:spPr>
          <a:xfrm>
            <a:off x="540000" y="3600000"/>
            <a:ext cx="11088000" cy="540000"/>
          </a:xfrm>
          <a:prstGeom prst="rect">
            <a:avLst/>
          </a:prstGeom>
          <a:noFill/>
        </p:spPr>
        <p:txBody>
          <a:bodyPr wrap="square" lIns="36000" rIns="36000">
            <a:spAutoFit/>
          </a:bodyPr>
          <a:lstStyle/>
          <a:p>
            <a:pPr algn="ctr"/>
            <a:r>
              <a:rPr sz="2200" b="0">
                <a:solidFill>
                  <a:srgbClr val="EEEEEE"/>
                </a:solidFill>
                <a:latin typeface="Yu Gothic"/>
                <a:ea typeface="Yu Gothic"/>
              </a:rPr>
              <a:t>ご清聴ありがとうございました</a:t>
            </a:r>
          </a:p>
        </p:txBody>
      </p:sp>
      <p:sp>
        <p:nvSpPr>
          <p:cNvPr id="5" name="TextBox 4"/>
          <p:cNvSpPr txBox="1"/>
          <p:nvPr/>
        </p:nvSpPr>
        <p:spPr>
          <a:xfrm>
            <a:off x="540000" y="5760000"/>
            <a:ext cx="11088000" cy="288000"/>
          </a:xfrm>
          <a:prstGeom prst="rect">
            <a:avLst/>
          </a:prstGeom>
          <a:noFill/>
        </p:spPr>
        <p:txBody>
          <a:bodyPr wrap="square" lIns="36000" rIns="36000">
            <a:spAutoFit/>
          </a:bodyPr>
          <a:lstStyle/>
          <a:p>
            <a:pPr algn="ctr"/>
            <a:r>
              <a:rPr sz="1200" b="0">
                <a:solidFill>
                  <a:srgbClr val="DDDDDD"/>
                </a:solidFill>
                <a:latin typeface="Yu Gothic"/>
                <a:ea typeface="Yu Gothic"/>
              </a:rPr>
              <a:t>2月　業務手順確認　／　みんなの介護ゆうあい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