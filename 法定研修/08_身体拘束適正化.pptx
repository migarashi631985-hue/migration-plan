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月の職員研修を始めます。本日のテーマは、身体拘束の適正化です。これは介護保険指定基準により、全介護事業所に年1回以上の実施が義務付けられている、法定研修です。身体拘束は、原則禁止。しかし、例外的に認められる場合もあります。その境界線と、私たちが取るべき手続きを、今日しっかり学んで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到達目標は、次の5つです。1つ目、身体拘束が原則禁止である理由を説明できること。2つ目、厚生労働省が示す、禁止対象となる11項目を挙げられること。3つ目、例外的に認められる3要件、切迫性、非代替性、一時性、を理解すること。4つ目、身体拘束を行う場合の、手続きと記録の流れを知ること。5つ目、拘束に頼らないケアの工夫、いわゆる代替案を挙げられ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なぜ身体拘束が原則禁止なのか、を確認します。介護保険法の指定基準では、『当該入所者または他の入所者等の生命または身体を保護するため緊急やむを得ない場合を除き、身体拘束その他入所者の行動を制限する行為を行ってはならない』と明記されています。背景には、尊厳の侵害。身体拘束は、人としての尊厳を著しく傷つけます。そして、拘束による弊害。筋力低下、関節拘縮、褥瘡、認知機能の悪化、精神的苦痛。さらに、拘束が新たな事故を生むこともあります。ベルトによる窒息、転落時のケガ、な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身体拘束がもたらす、3つの弊害を整理します。1つ目、身体的弊害。筋力・関節機能の低下。褥瘡、食欲不振、心肺機能の低下。2つ目、精神的弊害。認知症の進行、不安、怒り、人としての尊厳の喪失。3つ目、社会的弊害。家族の施設への不信、職員の倫理観の低下、職場全体の質の低下。拘束は、一見、安全を守るように見えて、実は別のリスクを生み出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厚生労働省が示す、禁止対象となる身体拘束の11項目を、前半と後半に分けて見ていきます。1つ目、徘徊しないように、車椅子・椅子・ベッドに体幹や四肢を紐等で縛る。2つ目、転落しないように、ベッドに体幹や四肢を紐等で縛る。3つ目、自分で降りられないように、ベッドを柵で四方に囲む。4つ目、点滴・経管栄養等のチューブを抜かないように、四肢を紐等で縛る。5つ目、チューブを抜かない、皮膚をかきむしらないように、ミトン型の手袋をつける。6つ目、車椅子やいすからずり落ちたり立ち上がったりしないように、Y字型拘束帯、腰ベルト、車椅子テーブルをつけ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いて、11項目の後半です。7つ目、立ち上がる能力のある人の立ち上がりを妨げるようないすを使用する。8つ目、脱衣やオムツ外しを制限するために、介護衣、つなぎ服を着せる。9つ目、他人への迷惑行為を防ぐために、ベッドなどに体幹や四肢を紐等で縛る。10つ目、行動を落ち着かせるために、向精神薬を過剰に服用させる。11つ目、自分の意思で開けることのできない居室等に隔離する。これらは、職員が『守るため』と思ってやっても、拘束にあた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外的に身体拘束が認められる、3要件を学びます。1つ目、切迫性。本人または他の利用者の生命または身体が危険にさらされる可能性が著しく高いこと。2つ目、非代替性。身体拘束以外に代替する介護方法がないこと。3つ目、一時性。身体拘束は一時的なものであること。この3つ、すべてを満たす、ということが条件です。1つでも欠ければ、拘束してはなりません。『本人が危ないから』だけでは、要件を満た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事例を見てみます。認知症のRさん。夜間にベッドから起き上がり、転倒を3回繰り返している。職員の一部が『ベッドに4点柵をつけましょう』と提案しました。これは拘束にあたるでしょうか。答えは、はい。自分で降りられないように4点柵で囲むのは、11項目の3つ目にあたります。では、どうするか。センサーマット、低床ベッド、夜間巡視の強化、薬の見直し、リハビリ介入、などの代替策を多職種で検討すべき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の事例。経管栄養中のSさん。夜間にチューブを抜いてしまうことがあります。職員の一部が、『ミトンをつけよう』と提案しました。これも、11項目の5つ目にあたり、拘束です。ここで3要件を当てはめてみます。切迫性。命に関わるか、はい。非代替性。他の方法で抜去を防げるか。例えば、チューブを見えないように衣服で覆う、抜きにくい固定方法、日中の注入に変更、経口摂取への移行、などの代替案を検討したか。一時性。期間を区切り、毎日見直せるか。これらを多職種で議論し、記録し、家族の同意を得て、初めて『例外的に』認め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身体拘束を行う場合の手続きを確認します。ステップ1、多職種カンファレンスの実施。医師、看護師、介護職、リハ職、家族も含めた話し合い。ステップ2、3要件の確認と、代替策の検討結果の記録。ステップ3、家族への説明と、同意書の取得。ステップ4、拘束の方法、時間、場所、期間を明確に記録。ステップ5、毎日の観察と、定期的な見直し。ステップ6、早期の解除に向けた継続的な努力。</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録の重要性について、強調します。身体拘束を行ったときは、その態様、時間、入所者の心身の状況、緊急やむを得ない理由を、必ず記録に残します。これは、法律で定められた義務です。記録がない拘束は、虐待と同じ扱いを受けます。記録の目的は、責任回避ではなく、早期解除のための振り返りです。なぜ拘束が必要だったか、いつ外せるか、他に方法はないか、を常に問い続け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目の事例。家族からの要望の場合です。利用者Tさんの家族が、『母が転ぶのが心配だから、ベッドに柵をたくさんつけてほしい』と強く希望しました。職員は、家族の気持ちを汲んで、4点柵を設置しました。これは、適切でしょうか。答えは、不適切です。家族の希望であっても、3要件を満たさない拘束は認められません。このような場合、家族に対して、拘束の弊害を丁寧に説明し、別の方法を一緒に検討することが、職員の役割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拘束に頼らないケアの工夫を、いくつか紹介します。環境の工夫。低床ベッド、クッションマット、センサーマット、手すり、照明の調整。情報の活用。行動パターンを観察し、事故の起こりやすい時間帯を把握。コミュニケーション。本人の不安や希望を聴き、生活リズムを整える。医療との連携。薬の見直し、痛みの管理、認知症治療薬の活用。職員体制。夜間の巡視強化、応援体制、役割分担。1つの方法に頼らず、組み合わせで対応することが基本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つ目の事例。向精神薬の過剰使用です。夜間に不穏となる利用者Uさんに、職員が『看護師に相談して、眠るまで薬を強めてもらおう』と提案しました。向精神薬の過剰服用も、11項目の10番目、拘束にあたります。薬で行動を落ち着かせる、のは、薬による拘束、いわゆるケミカル・レストレイント、と呼ばれます。不穏の原因を探る、環境を整える、日中の活動量を増やす、こうした非薬物的アプローチを優先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拘束ゼロを目指す施設の取り組みを紹介します。身体拘束廃止委員会の設置、年2回以上の会議開催。全職員への研修、年1回以上の法定研修。拘束の実態を見える化、モニタリングし、報告する仕組み。家族との情報共有、代替策の説明責任。『うちは拘束していない』と思っていても、無意識のうちに行っていることもあります。定期的に自施設を点検する姿勢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つ目の事例、無自覚な拘束の場面です。車椅子に座る利用者Vさんの前に、食事用テーブルを置いたまま、離席防止のために長時間そのまま、としているケースがあります。これは、11項目の6番目、車椅子テーブルで立ち上がりを妨げる、にあたる可能性があります。『安全のため』『忙しいから』という理由で、日常的に行っていないか、点検してみてください。こうした無自覚の拘束を発見し合うのが、委員会や研修の大切な役割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職員として持つべき姿勢について、お話しします。拘束をしないという選択は、ときに、事故のリスクと向き合う、ということを意味します。しかし、拘束を避けるための、観察、見守り、声かけ、工夫、こそが、介護の専門性です。利用者の尊厳を守るという目的のもとに、チーム全体で知恵を出し合う、これが拘束ゼロへの道です。1人で判断せず、必ずチームで決める、これが原則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己チェックに進みます。8項目について、できている、ときどき、できていない、の3段階で振り返ってください。できていない項目があっても、責めない、責められない、これが大原則です。気づいたところから、チーム全体で改善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まとめです。身体拘束は、原則、禁止。弊害は身体・精神・社会に及ぶ。禁止対象は、厚労省が示す11項目。ベッド柵、ミトン、ベルト、つなぎ服、向精神薬の過剰投与、隔離など。例外3要件。切迫性、非代替性、一時性。すべてを満たす必要がある。行う場合は、多職種協議、家族同意、記録、定期見直し、が必須。代替策を、環境、情報、コミュニケーション、医療、体制、の5観点で組み合わせる。明日からの行動として、無自覚の拘束を1つ探す、代替策を1つ提案する、チームで必ず相談する、この3点を意識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研修は以上です。ご清聴ありがとうございました。身体拘束は、正解のない難しい問題です。現場での判断に迷うこと、家族との関係、記録の書き方、どんな質問でも構いません。一緒に考えていきましょ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40000"/>
            <a:ext cx="12193200" cy="19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576000"/>
            <a:ext cx="10800000" cy="432000"/>
          </a:xfrm>
          <a:prstGeom prst="rect">
            <a:avLst/>
          </a:prstGeom>
          <a:noFill/>
        </p:spPr>
        <p:txBody>
          <a:bodyPr wrap="square" lIns="36000" rIns="36000">
            <a:spAutoFit/>
          </a:bodyPr>
          <a:lstStyle/>
          <a:p>
            <a:pPr algn="l"/>
            <a:r>
              <a:rPr sz="2200" b="1">
                <a:solidFill>
                  <a:srgbClr val="FFFFFF"/>
                </a:solidFill>
                <a:latin typeface="Yu Gothic"/>
                <a:ea typeface="Yu Gothic"/>
              </a:rPr>
              <a:t>8月　職員研修</a:t>
            </a:r>
          </a:p>
        </p:txBody>
      </p:sp>
      <p:sp>
        <p:nvSpPr>
          <p:cNvPr id="5" name="TextBox 4"/>
          <p:cNvSpPr txBox="1"/>
          <p:nvPr/>
        </p:nvSpPr>
        <p:spPr>
          <a:xfrm>
            <a:off x="540000" y="2484000"/>
            <a:ext cx="11088000" cy="720000"/>
          </a:xfrm>
          <a:prstGeom prst="rect">
            <a:avLst/>
          </a:prstGeom>
          <a:noFill/>
        </p:spPr>
        <p:txBody>
          <a:bodyPr wrap="square" lIns="36000" rIns="36000">
            <a:spAutoFit/>
          </a:bodyPr>
          <a:lstStyle/>
          <a:p>
            <a:pPr algn="l"/>
            <a:r>
              <a:rPr sz="4000" b="1">
                <a:solidFill>
                  <a:srgbClr val="1F4E79"/>
                </a:solidFill>
                <a:latin typeface="Yu Gothic"/>
                <a:ea typeface="Yu Gothic"/>
              </a:rPr>
              <a:t>【法定必須】身体拘束適正化</a:t>
            </a:r>
          </a:p>
        </p:txBody>
      </p:sp>
      <p:sp>
        <p:nvSpPr>
          <p:cNvPr id="6" name="TextBox 5"/>
          <p:cNvSpPr txBox="1"/>
          <p:nvPr/>
        </p:nvSpPr>
        <p:spPr>
          <a:xfrm>
            <a:off x="540000" y="3528000"/>
            <a:ext cx="11088000" cy="540000"/>
          </a:xfrm>
          <a:prstGeom prst="rect">
            <a:avLst/>
          </a:prstGeom>
          <a:noFill/>
        </p:spPr>
        <p:txBody>
          <a:bodyPr wrap="square" lIns="36000" rIns="36000">
            <a:spAutoFit/>
          </a:bodyPr>
          <a:lstStyle/>
          <a:p>
            <a:pPr algn="l"/>
            <a:r>
              <a:rPr sz="2000" b="0">
                <a:solidFill>
                  <a:srgbClr val="222222"/>
                </a:solidFill>
                <a:latin typeface="Yu Gothic"/>
                <a:ea typeface="Yu Gothic"/>
              </a:rPr>
              <a:t>原則禁止・例外3要件・代替ケアの工夫</a:t>
            </a:r>
          </a:p>
        </p:txBody>
      </p:sp>
      <p:sp>
        <p:nvSpPr>
          <p:cNvPr id="7" name="TextBox 6"/>
          <p:cNvSpPr txBox="1"/>
          <p:nvPr/>
        </p:nvSpPr>
        <p:spPr>
          <a:xfrm>
            <a:off x="540000" y="4860000"/>
            <a:ext cx="11088000" cy="360000"/>
          </a:xfrm>
          <a:prstGeom prst="rect">
            <a:avLst/>
          </a:prstGeom>
          <a:noFill/>
        </p:spPr>
        <p:txBody>
          <a:bodyPr wrap="square" lIns="36000" rIns="36000">
            <a:spAutoFit/>
          </a:bodyPr>
          <a:lstStyle/>
          <a:p>
            <a:pPr algn="l"/>
            <a:r>
              <a:rPr sz="2200" b="1">
                <a:solidFill>
                  <a:srgbClr val="FFFFFF"/>
                </a:solidFill>
                <a:latin typeface="Yu Gothic"/>
                <a:ea typeface="Yu Gothic"/>
              </a:rPr>
              <a:t>みんなの介護ゆうあい</a:t>
            </a:r>
          </a:p>
        </p:txBody>
      </p:sp>
      <p:sp>
        <p:nvSpPr>
          <p:cNvPr id="8" name="TextBox 7"/>
          <p:cNvSpPr txBox="1"/>
          <p:nvPr/>
        </p:nvSpPr>
        <p:spPr>
          <a:xfrm>
            <a:off x="540000" y="5400000"/>
            <a:ext cx="11088000" cy="288000"/>
          </a:xfrm>
          <a:prstGeom prst="rect">
            <a:avLst/>
          </a:prstGeom>
          <a:noFill/>
        </p:spPr>
        <p:txBody>
          <a:bodyPr wrap="square" lIns="36000" rIns="36000">
            <a:spAutoFit/>
          </a:bodyPr>
          <a:lstStyle/>
          <a:p>
            <a:pPr algn="l"/>
            <a:r>
              <a:rPr sz="1400" b="0">
                <a:solidFill>
                  <a:srgbClr val="EEEEEE"/>
                </a:solidFill>
                <a:latin typeface="Yu Gothic"/>
                <a:ea typeface="Yu Gothic"/>
              </a:rPr>
              <a:t>実施方法：集合研修（法定必須）</a:t>
            </a:r>
          </a:p>
        </p:txBody>
      </p:sp>
      <p:sp>
        <p:nvSpPr>
          <p:cNvPr id="9" name="TextBox 8"/>
          <p:cNvSpPr txBox="1"/>
          <p:nvPr/>
        </p:nvSpPr>
        <p:spPr>
          <a:xfrm>
            <a:off x="540000" y="5760000"/>
            <a:ext cx="11088000" cy="288000"/>
          </a:xfrm>
          <a:prstGeom prst="rect">
            <a:avLst/>
          </a:prstGeom>
          <a:noFill/>
        </p:spPr>
        <p:txBody>
          <a:bodyPr wrap="square" lIns="36000" rIns="36000">
            <a:spAutoFit/>
          </a:bodyPr>
          <a:lstStyle/>
          <a:p>
            <a:pPr algn="l"/>
            <a:r>
              <a:rPr sz="1200" b="0">
                <a:solidFill>
                  <a:srgbClr val="DDDDDD"/>
                </a:solidFill>
                <a:latin typeface="Yu Gothic"/>
                <a:ea typeface="Yu Gothic"/>
              </a:rPr>
              <a:t>進行：＿＿＿＿＿（施設内担当）　　日時：＿＿＿＿＿</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本日の目的と到達目標</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TextBox 4"/>
          <p:cNvSpPr txBox="1"/>
          <p:nvPr/>
        </p:nvSpPr>
        <p:spPr>
          <a:xfrm>
            <a:off x="360000" y="792000"/>
            <a:ext cx="11520000" cy="360000"/>
          </a:xfrm>
          <a:prstGeom prst="rect">
            <a:avLst/>
          </a:prstGeom>
          <a:noFill/>
        </p:spPr>
        <p:txBody>
          <a:bodyPr wrap="square" lIns="36000" rIns="36000">
            <a:spAutoFit/>
          </a:bodyPr>
          <a:lstStyle/>
          <a:p>
            <a:pPr algn="l"/>
            <a:r>
              <a:rPr sz="1600" b="0">
                <a:solidFill>
                  <a:srgbClr val="555555"/>
                </a:solidFill>
                <a:latin typeface="Yu Gothic"/>
                <a:ea typeface="Yu Gothic"/>
              </a:rPr>
              <a:t>この研修が終わったとき、受講者は次ができるようになります。</a:t>
            </a:r>
          </a:p>
        </p:txBody>
      </p:sp>
      <p:sp>
        <p:nvSpPr>
          <p:cNvPr id="6" name="Rectangle 5"/>
          <p:cNvSpPr/>
          <p:nvPr/>
        </p:nvSpPr>
        <p:spPr>
          <a:xfrm>
            <a:off x="360000" y="1440000"/>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000" y="1440000"/>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1</a:t>
            </a:r>
          </a:p>
        </p:txBody>
      </p:sp>
      <p:sp>
        <p:nvSpPr>
          <p:cNvPr id="8" name="TextBox 7"/>
          <p:cNvSpPr txBox="1"/>
          <p:nvPr/>
        </p:nvSpPr>
        <p:spPr>
          <a:xfrm>
            <a:off x="936000" y="1458000"/>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身体拘束が原則禁止である理由を説明できる</a:t>
            </a:r>
          </a:p>
        </p:txBody>
      </p:sp>
      <p:sp>
        <p:nvSpPr>
          <p:cNvPr id="9" name="Rectangle 8"/>
          <p:cNvSpPr/>
          <p:nvPr/>
        </p:nvSpPr>
        <p:spPr>
          <a:xfrm>
            <a:off x="360000" y="2015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000" y="2015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2</a:t>
            </a:r>
          </a:p>
        </p:txBody>
      </p:sp>
      <p:sp>
        <p:nvSpPr>
          <p:cNvPr id="11" name="TextBox 10"/>
          <p:cNvSpPr txBox="1"/>
          <p:nvPr/>
        </p:nvSpPr>
        <p:spPr>
          <a:xfrm>
            <a:off x="936000" y="2033999"/>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禁止対象となる11項目を具体的に挙げられる</a:t>
            </a:r>
          </a:p>
        </p:txBody>
      </p:sp>
      <p:sp>
        <p:nvSpPr>
          <p:cNvPr id="12" name="Rectangle 11"/>
          <p:cNvSpPr/>
          <p:nvPr/>
        </p:nvSpPr>
        <p:spPr>
          <a:xfrm>
            <a:off x="360000" y="2591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00" y="2591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3</a:t>
            </a:r>
          </a:p>
        </p:txBody>
      </p:sp>
      <p:sp>
        <p:nvSpPr>
          <p:cNvPr id="14" name="TextBox 13"/>
          <p:cNvSpPr txBox="1"/>
          <p:nvPr/>
        </p:nvSpPr>
        <p:spPr>
          <a:xfrm>
            <a:off x="936000" y="2609999"/>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例外3要件（切迫性・非代替性・一時性）を理解する</a:t>
            </a:r>
          </a:p>
        </p:txBody>
      </p:sp>
      <p:sp>
        <p:nvSpPr>
          <p:cNvPr id="15" name="Rectangle 14"/>
          <p:cNvSpPr/>
          <p:nvPr/>
        </p:nvSpPr>
        <p:spPr>
          <a:xfrm>
            <a:off x="360000" y="3167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000" y="3167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4</a:t>
            </a:r>
          </a:p>
        </p:txBody>
      </p:sp>
      <p:sp>
        <p:nvSpPr>
          <p:cNvPr id="17" name="TextBox 16"/>
          <p:cNvSpPr txBox="1"/>
          <p:nvPr/>
        </p:nvSpPr>
        <p:spPr>
          <a:xfrm>
            <a:off x="936000" y="3186000"/>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拘束を行う場合の手続きと記録の流れを知る</a:t>
            </a:r>
          </a:p>
        </p:txBody>
      </p:sp>
      <p:sp>
        <p:nvSpPr>
          <p:cNvPr id="18" name="Rectangle 17"/>
          <p:cNvSpPr/>
          <p:nvPr/>
        </p:nvSpPr>
        <p:spPr>
          <a:xfrm>
            <a:off x="360000" y="3743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3743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5</a:t>
            </a:r>
          </a:p>
        </p:txBody>
      </p:sp>
      <p:sp>
        <p:nvSpPr>
          <p:cNvPr id="20" name="TextBox 19"/>
          <p:cNvSpPr txBox="1"/>
          <p:nvPr/>
        </p:nvSpPr>
        <p:spPr>
          <a:xfrm>
            <a:off x="936000" y="3761999"/>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拘束に頼らないケアの工夫（代替策）を挙げられる</a:t>
            </a:r>
          </a:p>
        </p:txBody>
      </p:sp>
      <p:sp>
        <p:nvSpPr>
          <p:cNvPr id="21" name="Rectangle 20"/>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3" name="TextBox 22"/>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 なぜ身体拘束は原則禁止か</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介護保険指定基準：『緊急やむを得ない場合を除き、行動を制限する行為を行ってはならない』</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背景：利用者の尊厳を著しく侵害する</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拘束による身体・精神・社会的な弊害が大きい</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拘束が新たな事故を生む（ベルトによる窒息、転落時の受傷）</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『安全のため』は拘束を正当化しない</a:t>
            </a:r>
          </a:p>
        </p:txBody>
      </p:sp>
      <p:sp>
        <p:nvSpPr>
          <p:cNvPr id="15" name="Rectangle 14"/>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拘束ゼロは、事故ゼロと天秤にかけるものではなく、専門性の土台。</a:t>
            </a:r>
          </a:p>
        </p:txBody>
      </p:sp>
      <p:sp>
        <p:nvSpPr>
          <p:cNvPr id="17" name="Rectangle 16"/>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9" name="TextBox 18"/>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2. 拘束がもたらす3つの弊害</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① 身体的弊害：筋力低下・関節拘縮・褥瘡・食欲不振・心肺機能低下</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② 精神的弊害：認知症進行・不安・怒り・尊厳喪失</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③ 社会的弊害：家族の不信・職員の倫理観低下・職場の質の低下</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『守るため』の拘束が、別のリスクを生み出す</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短期の安全 &lt; 長期の QoL・信頼</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3. 禁止される11項目 前半（①〜⑥）</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① 徘徊しないよう椅子・ベッドに体幹・四肢を縛る</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② 転落しないようベッドに縛る</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③ 自分で降りられないようベッドを柵で四方に囲む</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④ チューブを抜かないよう四肢を縛る</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⑤ ミトン型の手袋をつける</a:t>
            </a:r>
          </a:p>
        </p:txBody>
      </p:sp>
      <p:sp>
        <p:nvSpPr>
          <p:cNvPr id="15" name="Rectangle 14"/>
          <p:cNvSpPr/>
          <p:nvPr/>
        </p:nvSpPr>
        <p:spPr>
          <a:xfrm>
            <a:off x="432000" y="354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4000" y="338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⑥ Y字帯・腰ベルト・車椅子テーブルで立ち上がりを妨げる</a:t>
            </a:r>
          </a:p>
        </p:txBody>
      </p:sp>
      <p:sp>
        <p:nvSpPr>
          <p:cNvPr id="17" name="Rectangle 16"/>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職員が『守るため』と思っても、これらに該当すれば拘束。</a:t>
            </a:r>
          </a:p>
        </p:txBody>
      </p:sp>
      <p:sp>
        <p:nvSpPr>
          <p:cNvPr id="19" name="Rectangle 18"/>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1" name="TextBox 20"/>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4. 禁止される11項目 後半（⑦〜⑪）</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⑦ 立ち上がれる人の立ち上がりを妨げるいす</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⑧ 脱衣・オムツ外し防止のつなぎ服（介護衣）</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⑨ 他利用者への迷惑防止でベッドに縛る</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⑩ 行動抑制目的の向精神薬の過剰服用</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⑪ 自分で開けられない居室等に隔離</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5. 例外3要件（すべて満たす必要）</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360000" y="864000"/>
            <a:ext cx="5580000" cy="39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3要件の内容</a:t>
            </a:r>
          </a:p>
        </p:txBody>
      </p:sp>
      <p:sp>
        <p:nvSpPr>
          <p:cNvPr id="7" name="Rectangle 6"/>
          <p:cNvSpPr/>
          <p:nvPr/>
        </p:nvSpPr>
        <p:spPr>
          <a:xfrm>
            <a:off x="360000" y="1260000"/>
            <a:ext cx="5580000" cy="450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・① 切迫性：生命・身体に危険が著しく高い</a:t>
            </a:r>
          </a:p>
        </p:txBody>
      </p:sp>
      <p:sp>
        <p:nvSpPr>
          <p:cNvPr id="9" name="TextBox 8"/>
          <p:cNvSpPr txBox="1"/>
          <p:nvPr/>
        </p:nvSpPr>
        <p:spPr>
          <a:xfrm>
            <a:off x="468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・② 非代替性：他に代替方法がない</a:t>
            </a:r>
          </a:p>
        </p:txBody>
      </p:sp>
      <p:sp>
        <p:nvSpPr>
          <p:cNvPr id="10" name="TextBox 9"/>
          <p:cNvSpPr txBox="1"/>
          <p:nvPr/>
        </p:nvSpPr>
        <p:spPr>
          <a:xfrm>
            <a:off x="468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・③ 一時性：一時的なものに限る</a:t>
            </a:r>
          </a:p>
        </p:txBody>
      </p:sp>
      <p:sp>
        <p:nvSpPr>
          <p:cNvPr id="11" name="TextBox 10"/>
          <p:cNvSpPr txBox="1"/>
          <p:nvPr/>
        </p:nvSpPr>
        <p:spPr>
          <a:xfrm>
            <a:off x="468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 3つ全てが揃わなければ拘束不可</a:t>
            </a:r>
          </a:p>
        </p:txBody>
      </p:sp>
      <p:sp>
        <p:nvSpPr>
          <p:cNvPr id="12" name="TextBox 11"/>
          <p:cNvSpPr txBox="1"/>
          <p:nvPr/>
        </p:nvSpPr>
        <p:spPr>
          <a:xfrm>
            <a:off x="468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・『本人が危ないから』だけでは不十分</a:t>
            </a:r>
          </a:p>
        </p:txBody>
      </p:sp>
      <p:sp>
        <p:nvSpPr>
          <p:cNvPr id="13" name="Rectangle 12"/>
          <p:cNvSpPr/>
          <p:nvPr/>
        </p:nvSpPr>
        <p:spPr>
          <a:xfrm>
            <a:off x="6228000" y="864000"/>
            <a:ext cx="5580000" cy="396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検討の前に問うこと</a:t>
            </a:r>
          </a:p>
        </p:txBody>
      </p:sp>
      <p:sp>
        <p:nvSpPr>
          <p:cNvPr id="15" name="Rectangle 14"/>
          <p:cNvSpPr/>
          <p:nvPr/>
        </p:nvSpPr>
        <p:spPr>
          <a:xfrm>
            <a:off x="6228000" y="1260000"/>
            <a:ext cx="5580000" cy="450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・代替案を多職種で本気で検討したか？</a:t>
            </a:r>
          </a:p>
        </p:txBody>
      </p:sp>
      <p:sp>
        <p:nvSpPr>
          <p:cNvPr id="17" name="TextBox 16"/>
          <p:cNvSpPr txBox="1"/>
          <p:nvPr/>
        </p:nvSpPr>
        <p:spPr>
          <a:xfrm>
            <a:off x="6336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・拘束期間の終わりを決められるか？</a:t>
            </a:r>
          </a:p>
        </p:txBody>
      </p:sp>
      <p:sp>
        <p:nvSpPr>
          <p:cNvPr id="18" name="TextBox 17"/>
          <p:cNvSpPr txBox="1"/>
          <p:nvPr/>
        </p:nvSpPr>
        <p:spPr>
          <a:xfrm>
            <a:off x="6336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・毎日見直し・早期解除が可能か？</a:t>
            </a:r>
          </a:p>
        </p:txBody>
      </p:sp>
      <p:sp>
        <p:nvSpPr>
          <p:cNvPr id="19" name="TextBox 18"/>
          <p:cNvSpPr txBox="1"/>
          <p:nvPr/>
        </p:nvSpPr>
        <p:spPr>
          <a:xfrm>
            <a:off x="6336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・家族に同意を得られるか？</a:t>
            </a:r>
          </a:p>
        </p:txBody>
      </p:sp>
      <p:sp>
        <p:nvSpPr>
          <p:cNvPr id="20" name="TextBox 19"/>
          <p:cNvSpPr txBox="1"/>
          <p:nvPr/>
        </p:nvSpPr>
        <p:spPr>
          <a:xfrm>
            <a:off x="6336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・記録に残せる内容か？</a:t>
            </a:r>
          </a:p>
        </p:txBody>
      </p:sp>
      <p:sp>
        <p:nvSpPr>
          <p:cNvPr id="21" name="Rectangle 20"/>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3" name="TextBox 22"/>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6. 事例① 夜間の4点柵</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認知症のRさんが夜間にベッドから起き上がり、転倒を3回繰り返している。職員の一部が『ベッドに4点柵をつけましょう』と提案した。</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この4点柵は身体拘束にあたりますか？根拠は？</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代替策を5観点（環境・情報・コミュニケーション・医療・体制）で挙げてください。</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実行する前に誰に相談し、何を記録しますか？</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7. 事例② チューブとミトン</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経管栄養中のSさんが夜間にチューブを抜いてしまうことがある。職員の一部が『ミトンをつけよう』と提案した。</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ミトン装着は拘束ですか？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3要件（切迫性・非代替性・一時性）を1つずつ検討してください。</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ミトンを避ける代替策（衣服・固定・時間帯調整 等）を挙げてください。</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8. 拘束を行う場合の手続き</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① 多職種カンファレンス（医師・看護・介護・リハ・家族）</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② 3要件の確認と代替策検討の記録</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③ 家族への説明と同意書の取得</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④ 方法・時間・場所・期間を明記</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⑤ 毎日の観察と定期見直し</a:t>
            </a:r>
          </a:p>
        </p:txBody>
      </p:sp>
      <p:sp>
        <p:nvSpPr>
          <p:cNvPr id="15" name="Rectangle 14"/>
          <p:cNvSpPr/>
          <p:nvPr/>
        </p:nvSpPr>
        <p:spPr>
          <a:xfrm>
            <a:off x="432000" y="354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4000" y="338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⑥ 早期解除に向けた継続努力</a:t>
            </a:r>
          </a:p>
        </p:txBody>
      </p:sp>
      <p:sp>
        <p:nvSpPr>
          <p:cNvPr id="17" name="Rectangle 16"/>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9" name="TextBox 18"/>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9. 記録の重要性</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態様・時間・心身の状況・緊急やむを得ない理由を記録（法令義務）</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記録がない拘束は虐待と同じ扱い</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記録の目的：責任回避ではなく早期解除のための振り返り</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『なぜ必要か／いつ外せるか／他に方法はないか』を常に問う</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委員会・管理者が定期的に内容をレビューする</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10. 事例③ 家族からの要望</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Tさんの家族が『母が転ぶのが心配だから、ベッドに柵をたくさんつけてほしい』と強く希望。職員は家族の気持ちを汲んで4点柵を設置した。</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家族の希望があれば拘束は許容されますか？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家族にはどのように説明しますか？</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家族と一緒に検討すべき代替策は何ですか？</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11. 代替ケアの工夫（5観点）</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環境：低床ベッド／センサーマット／クッションマット／手すり／照明</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情報：行動パターン観察／事故発生時間帯の把握</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コミュニケーション：不安・希望を聴く／生活リズムを整える</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医療：薬の副作用見直し／痛み管理／認知症治療薬</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体制：夜間巡視強化／応援／役割分担</a:t>
            </a:r>
          </a:p>
        </p:txBody>
      </p:sp>
      <p:sp>
        <p:nvSpPr>
          <p:cNvPr id="15" name="Rectangle 14"/>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1つの方法に頼らず『組み合わせ』で対応するのが基本。</a:t>
            </a:r>
          </a:p>
        </p:txBody>
      </p:sp>
      <p:sp>
        <p:nvSpPr>
          <p:cNvPr id="17" name="Rectangle 16"/>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9" name="TextBox 18"/>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12. 事例④ 向精神薬の過剰使用</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夜間不穏となる利用者Uさんに、職員が『看護師に相談して、眠るまで薬を強めてもらおう』と提案。</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向精神薬の過剰服用は11項目のどれに該当しますか？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『ケミカル・レストレイント』を避けるための非薬物的アプローチは？</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不穏の原因を探るために観察すべき項目を5つ挙げてください。</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13. 拘束ゼロへの施設的な歩み</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身体拘束廃止委員会の設置（年2回以上）</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全職員への研修（年1回以上・本日実施）</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拘束の実態を見える化・モニタリング・報告</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家族との情報共有・説明責任</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『うちは拘束していない』と思っていないか自己点検</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14. 事例⑤ 無自覚の拘束</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Vさんの車椅子の前に、食事用テーブルを置いたまま長時間離席防止している。『安全のため』『忙しいから』と日常的に続いている。</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これは拘束にあたる可能性はありますか？根拠は？</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自施設に同じような『無自覚の拘束』はありませんか？</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発見し合うためのチェック機会（委員会・研修）をどう活かしますか？</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15. 職員としての姿勢</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拘束しない選択は、事故リスクと向き合うことでもある</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観察・見守り・声かけ・工夫こそが介護の専門性</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1人で判断しない。必ずチームで決める</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尊厳を守るという目的のもとに、知恵を出し合う</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迷ったら委員会・管理者に相談する</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自己チェック（受講後に記入）</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TextBox 4"/>
          <p:cNvSpPr txBox="1"/>
          <p:nvPr/>
        </p:nvSpPr>
        <p:spPr>
          <a:xfrm>
            <a:off x="360000" y="792000"/>
            <a:ext cx="11520000" cy="360000"/>
          </a:xfrm>
          <a:prstGeom prst="rect">
            <a:avLst/>
          </a:prstGeom>
          <a:noFill/>
        </p:spPr>
        <p:txBody>
          <a:bodyPr wrap="square" lIns="36000" rIns="36000">
            <a:spAutoFit/>
          </a:bodyPr>
          <a:lstStyle/>
          <a:p>
            <a:pPr algn="l"/>
            <a:r>
              <a:rPr sz="1400" b="0">
                <a:solidFill>
                  <a:srgbClr val="555555"/>
                </a:solidFill>
                <a:latin typeface="Yu Gothic"/>
                <a:ea typeface="Yu Gothic"/>
              </a:rPr>
              <a:t>できている=◎　ときどき=○　できていない=△</a:t>
            </a:r>
          </a:p>
        </p:txBody>
      </p:sp>
      <p:sp>
        <p:nvSpPr>
          <p:cNvPr id="6" name="Rectangle 5"/>
          <p:cNvSpPr/>
          <p:nvPr/>
        </p:nvSpPr>
        <p:spPr>
          <a:xfrm>
            <a:off x="10440000" y="12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40000" y="13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8" name="TextBox 7"/>
          <p:cNvSpPr txBox="1"/>
          <p:nvPr/>
        </p:nvSpPr>
        <p:spPr>
          <a:xfrm>
            <a:off x="360000" y="133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1.　11項目の拘束例を具体的に挙げられる</a:t>
            </a:r>
          </a:p>
        </p:txBody>
      </p:sp>
      <p:sp>
        <p:nvSpPr>
          <p:cNvPr id="9" name="Rectangle 8"/>
          <p:cNvSpPr/>
          <p:nvPr/>
        </p:nvSpPr>
        <p:spPr>
          <a:xfrm>
            <a:off x="10440000" y="1745999"/>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40000" y="18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11" name="TextBox 10"/>
          <p:cNvSpPr txBox="1"/>
          <p:nvPr/>
        </p:nvSpPr>
        <p:spPr>
          <a:xfrm>
            <a:off x="360000" y="178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2.　例外3要件を順に説明できる</a:t>
            </a:r>
          </a:p>
        </p:txBody>
      </p:sp>
      <p:sp>
        <p:nvSpPr>
          <p:cNvPr id="12" name="Rectangle 11"/>
          <p:cNvSpPr/>
          <p:nvPr/>
        </p:nvSpPr>
        <p:spPr>
          <a:xfrm>
            <a:off x="10440000" y="21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40000" y="22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14" name="TextBox 13"/>
          <p:cNvSpPr txBox="1"/>
          <p:nvPr/>
        </p:nvSpPr>
        <p:spPr>
          <a:xfrm>
            <a:off x="360000" y="223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3.　拘束を行う場合の手続きを知っている</a:t>
            </a:r>
          </a:p>
        </p:txBody>
      </p:sp>
      <p:sp>
        <p:nvSpPr>
          <p:cNvPr id="15" name="Rectangle 14"/>
          <p:cNvSpPr/>
          <p:nvPr/>
        </p:nvSpPr>
        <p:spPr>
          <a:xfrm>
            <a:off x="10440000" y="264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40000" y="27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17" name="TextBox 16"/>
          <p:cNvSpPr txBox="1"/>
          <p:nvPr/>
        </p:nvSpPr>
        <p:spPr>
          <a:xfrm>
            <a:off x="360000" y="268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4.　家族の要望だけで拘束を始めていない</a:t>
            </a:r>
          </a:p>
        </p:txBody>
      </p:sp>
      <p:sp>
        <p:nvSpPr>
          <p:cNvPr id="18" name="Rectangle 17"/>
          <p:cNvSpPr/>
          <p:nvPr/>
        </p:nvSpPr>
        <p:spPr>
          <a:xfrm>
            <a:off x="10440000" y="30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40000" y="31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0" name="TextBox 19"/>
          <p:cNvSpPr txBox="1"/>
          <p:nvPr/>
        </p:nvSpPr>
        <p:spPr>
          <a:xfrm>
            <a:off x="360000" y="3131999"/>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5.　代替策を5観点で検討できる</a:t>
            </a:r>
          </a:p>
        </p:txBody>
      </p:sp>
      <p:sp>
        <p:nvSpPr>
          <p:cNvPr id="21" name="Rectangle 20"/>
          <p:cNvSpPr/>
          <p:nvPr/>
        </p:nvSpPr>
        <p:spPr>
          <a:xfrm>
            <a:off x="10440000" y="354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40000" y="36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3" name="TextBox 22"/>
          <p:cNvSpPr txBox="1"/>
          <p:nvPr/>
        </p:nvSpPr>
        <p:spPr>
          <a:xfrm>
            <a:off x="360000" y="3581999"/>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6.　毎日の観察・定期見直しを記録している</a:t>
            </a:r>
          </a:p>
        </p:txBody>
      </p:sp>
      <p:sp>
        <p:nvSpPr>
          <p:cNvPr id="24" name="Rectangle 23"/>
          <p:cNvSpPr/>
          <p:nvPr/>
        </p:nvSpPr>
        <p:spPr>
          <a:xfrm>
            <a:off x="10440000" y="39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40000" y="40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6" name="TextBox 25"/>
          <p:cNvSpPr txBox="1"/>
          <p:nvPr/>
        </p:nvSpPr>
        <p:spPr>
          <a:xfrm>
            <a:off x="360000" y="4031999"/>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7.　無自覚の拘束がないか定期点検している</a:t>
            </a:r>
          </a:p>
        </p:txBody>
      </p:sp>
      <p:sp>
        <p:nvSpPr>
          <p:cNvPr id="27" name="Rectangle 26"/>
          <p:cNvSpPr/>
          <p:nvPr/>
        </p:nvSpPr>
        <p:spPr>
          <a:xfrm>
            <a:off x="10440000" y="444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40000" y="45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9" name="TextBox 28"/>
          <p:cNvSpPr txBox="1"/>
          <p:nvPr/>
        </p:nvSpPr>
        <p:spPr>
          <a:xfrm>
            <a:off x="360000" y="448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8.　迷ったときに相談できる体制を知っている</a:t>
            </a:r>
          </a:p>
        </p:txBody>
      </p:sp>
      <p:sp>
        <p:nvSpPr>
          <p:cNvPr id="30" name="Rectangle 29"/>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32" name="TextBox 31"/>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まとめ・今日から実践すること</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8月　みんなの介護ゆうあい</a:t>
            </a:r>
          </a:p>
        </p:txBody>
      </p:sp>
      <p:sp>
        <p:nvSpPr>
          <p:cNvPr id="5" name="TextBox 4"/>
          <p:cNvSpPr txBox="1"/>
          <p:nvPr/>
        </p:nvSpPr>
        <p:spPr>
          <a:xfrm>
            <a:off x="360000" y="792000"/>
            <a:ext cx="11520000" cy="360000"/>
          </a:xfrm>
          <a:prstGeom prst="rect">
            <a:avLst/>
          </a:prstGeom>
          <a:noFill/>
        </p:spPr>
        <p:txBody>
          <a:bodyPr wrap="square" lIns="36000" rIns="36000">
            <a:spAutoFit/>
          </a:bodyPr>
          <a:lstStyle/>
          <a:p>
            <a:pPr algn="l"/>
            <a:r>
              <a:rPr sz="1800" b="1">
                <a:solidFill>
                  <a:srgbClr val="1F4E79"/>
                </a:solidFill>
                <a:latin typeface="Yu Gothic"/>
                <a:ea typeface="Yu Gothic"/>
              </a:rPr>
              <a:t>本日の要点</a:t>
            </a:r>
          </a:p>
        </p:txBody>
      </p:sp>
      <p:sp>
        <p:nvSpPr>
          <p:cNvPr id="6" name="Rectangle 5"/>
          <p:cNvSpPr/>
          <p:nvPr/>
        </p:nvSpPr>
        <p:spPr>
          <a:xfrm>
            <a:off x="396000" y="1368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0000" y="1224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身体拘束は原則禁止。弊害は身体・精神・社会に及ぶ</a:t>
            </a:r>
          </a:p>
        </p:txBody>
      </p:sp>
      <p:sp>
        <p:nvSpPr>
          <p:cNvPr id="8" name="Rectangle 7"/>
          <p:cNvSpPr/>
          <p:nvPr/>
        </p:nvSpPr>
        <p:spPr>
          <a:xfrm>
            <a:off x="396000" y="1836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000" y="1692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禁止対象は厚労省が示す11項目（ベッド柵・ミトン・ベルト・つなぎ・向精神薬・隔離 等）</a:t>
            </a:r>
          </a:p>
        </p:txBody>
      </p:sp>
      <p:sp>
        <p:nvSpPr>
          <p:cNvPr id="10" name="Rectangle 9"/>
          <p:cNvSpPr/>
          <p:nvPr/>
        </p:nvSpPr>
        <p:spPr>
          <a:xfrm>
            <a:off x="396000" y="2304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160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例外3要件（切迫性・非代替性・一時性）をすべて満たす必要</a:t>
            </a:r>
          </a:p>
        </p:txBody>
      </p:sp>
      <p:sp>
        <p:nvSpPr>
          <p:cNvPr id="12" name="Rectangle 11"/>
          <p:cNvSpPr/>
          <p:nvPr/>
        </p:nvSpPr>
        <p:spPr>
          <a:xfrm>
            <a:off x="396000" y="2772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000" y="2628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行う場合は多職種協議・家族同意・記録・定期見直しが必須</a:t>
            </a:r>
          </a:p>
        </p:txBody>
      </p:sp>
      <p:sp>
        <p:nvSpPr>
          <p:cNvPr id="14" name="Rectangle 13"/>
          <p:cNvSpPr/>
          <p:nvPr/>
        </p:nvSpPr>
        <p:spPr>
          <a:xfrm>
            <a:off x="360000" y="5040000"/>
            <a:ext cx="11484000" cy="115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3999" y="5112000"/>
            <a:ext cx="11196000" cy="288000"/>
          </a:xfrm>
          <a:prstGeom prst="rect">
            <a:avLst/>
          </a:prstGeom>
          <a:noFill/>
        </p:spPr>
        <p:txBody>
          <a:bodyPr wrap="square" lIns="36000" rIns="36000">
            <a:spAutoFit/>
          </a:bodyPr>
          <a:lstStyle/>
          <a:p>
            <a:pPr algn="l"/>
            <a:r>
              <a:rPr sz="1500" b="1">
                <a:solidFill>
                  <a:srgbClr val="1F4E79"/>
                </a:solidFill>
                <a:latin typeface="Yu Gothic"/>
                <a:ea typeface="Yu Gothic"/>
              </a:rPr>
              <a:t>明日からの行動目標</a:t>
            </a:r>
          </a:p>
        </p:txBody>
      </p:sp>
      <p:sp>
        <p:nvSpPr>
          <p:cNvPr id="16" name="TextBox 15"/>
          <p:cNvSpPr txBox="1"/>
          <p:nvPr/>
        </p:nvSpPr>
        <p:spPr>
          <a:xfrm>
            <a:off x="503999" y="5436000"/>
            <a:ext cx="11196000" cy="720000"/>
          </a:xfrm>
          <a:prstGeom prst="rect">
            <a:avLst/>
          </a:prstGeom>
          <a:noFill/>
        </p:spPr>
        <p:txBody>
          <a:bodyPr wrap="square" lIns="36000" rIns="36000">
            <a:spAutoFit/>
          </a:bodyPr>
          <a:lstStyle/>
          <a:p>
            <a:pPr algn="l"/>
            <a:r>
              <a:rPr sz="1400" b="0">
                <a:solidFill>
                  <a:srgbClr val="222222"/>
                </a:solidFill>
                <a:latin typeface="Yu Gothic"/>
                <a:ea typeface="Yu Gothic"/>
              </a:rPr>
              <a:t>① 自分のユニットで『無自覚の拘束』を1つ探し、委員会に共有する。② 代替策を5観点のうち1つ、今月中に試してみる。③ 拘束の判断は必ずチーム・多職種で相談する。④ 家族から拘束の要望があったときの説明の仕方を同僚と確認する。</a:t>
            </a:r>
          </a:p>
        </p:txBody>
      </p:sp>
      <p:sp>
        <p:nvSpPr>
          <p:cNvPr id="17" name="Rectangle 16"/>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9" name="TextBox 18"/>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2160000"/>
            <a:ext cx="11088000" cy="1080000"/>
          </a:xfrm>
          <a:prstGeom prst="rect">
            <a:avLst/>
          </a:prstGeom>
          <a:noFill/>
        </p:spPr>
        <p:txBody>
          <a:bodyPr wrap="square" lIns="36000" rIns="36000">
            <a:spAutoFit/>
          </a:bodyPr>
          <a:lstStyle/>
          <a:p>
            <a:pPr algn="ctr"/>
            <a:r>
              <a:rPr sz="6000" b="1">
                <a:solidFill>
                  <a:srgbClr val="FFFFFF"/>
                </a:solidFill>
                <a:latin typeface="Yu Gothic"/>
                <a:ea typeface="Yu Gothic"/>
              </a:rPr>
              <a:t>質疑応答</a:t>
            </a:r>
          </a:p>
        </p:txBody>
      </p:sp>
      <p:sp>
        <p:nvSpPr>
          <p:cNvPr id="4" name="TextBox 3"/>
          <p:cNvSpPr txBox="1"/>
          <p:nvPr/>
        </p:nvSpPr>
        <p:spPr>
          <a:xfrm>
            <a:off x="540000" y="3600000"/>
            <a:ext cx="11088000" cy="540000"/>
          </a:xfrm>
          <a:prstGeom prst="rect">
            <a:avLst/>
          </a:prstGeom>
          <a:noFill/>
        </p:spPr>
        <p:txBody>
          <a:bodyPr wrap="square" lIns="36000" rIns="36000">
            <a:spAutoFit/>
          </a:bodyPr>
          <a:lstStyle/>
          <a:p>
            <a:pPr algn="ctr"/>
            <a:r>
              <a:rPr sz="2200" b="0">
                <a:solidFill>
                  <a:srgbClr val="EEEEEE"/>
                </a:solidFill>
                <a:latin typeface="Yu Gothic"/>
                <a:ea typeface="Yu Gothic"/>
              </a:rPr>
              <a:t>ご清聴ありがとうございました</a:t>
            </a:r>
          </a:p>
        </p:txBody>
      </p:sp>
      <p:sp>
        <p:nvSpPr>
          <p:cNvPr id="5" name="TextBox 4"/>
          <p:cNvSpPr txBox="1"/>
          <p:nvPr/>
        </p:nvSpPr>
        <p:spPr>
          <a:xfrm>
            <a:off x="540000" y="5760000"/>
            <a:ext cx="11088000" cy="288000"/>
          </a:xfrm>
          <a:prstGeom prst="rect">
            <a:avLst/>
          </a:prstGeom>
          <a:noFill/>
        </p:spPr>
        <p:txBody>
          <a:bodyPr wrap="square" lIns="36000" rIns="36000">
            <a:spAutoFit/>
          </a:bodyPr>
          <a:lstStyle/>
          <a:p>
            <a:pPr algn="ctr"/>
            <a:r>
              <a:rPr sz="1200" b="0">
                <a:solidFill>
                  <a:srgbClr val="DDDDDD"/>
                </a:solidFill>
                <a:latin typeface="Yu Gothic"/>
                <a:ea typeface="Yu Gothic"/>
              </a:rPr>
              <a:t>8月　身体拘束適正化　／　みんなの介護ゆうあい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