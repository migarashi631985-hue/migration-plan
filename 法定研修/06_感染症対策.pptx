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月の職員研修を始めます。本日のテーマは、感染症対策です。高齢者施設では、わずかな感染症の持ち込みが、集団感染につながります。手指衛生を中心とした、基本の徹底が、利用者と職員の命を守ります。みんなの介護ゆうあいの職員として、今日から実践できる知識を身につけ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到達目標は、次の5つです。1つ目、感染が成立する3つの要素を説明できること。2つ目、手指衛生の5つのタイミングを実践できること。3つ目、標準予防策と、経路別予防策の違いを理解すること。4つ目、個人防護具、いわゆるPPEを、正しい順序で着脱できること。5つ目、アウトブレイクの初期対応の流れを知る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、なぜ施設で感染症対策が特に重要なのか、確認します。高齢者は、加齢による免疫機能の低下、基礎疾患、栄養状態の問題などで、感染症にかかりやすく、重症化しやすい特徴があります。さらに、集団生活の場であるため、1人の感染が、すぐに10人20人への感染に広がります。職員の手や、共有物品、空調を介して、施設全体にあっという間に広がります。『たかが風邪』の油断が、命に関わる事態を招くのが、介護施設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染が成立するには、3つの要素がそろう必要があります。1つ目、感染源。ウイルスや細菌。2つ目、感染経路。手指、飛沫、接触、空気、物品などを介した伝播の道筋。3つ目、感染を受ける宿主、つまり人。この3つのうち、私たちが最もコントロールできるのが、感染経路です。手指衛生、マスク、手袋、エプロン、環境清掃で、経路を断つ。これが対策の基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施設で特に注意すべき感染症を整理します。インフルエンザ。冬場の集団発生、発症後の出勤停止判断が重要です。ノロウイルス。嘔吐物の処理、次亜塩素酸による消毒が鍵。新型コロナウイルス。飛沫・エアロゾル感染、無症状者からの感染にも注意。疥癬（かいせん）。皮膚の強いかゆみ、接触感染。耐性菌、MRSA、CD菌など、免疫の落ちた高齢者で重症化。結核。古い感染が高齢になって再燃すること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が本日の最重要ポイントです。手指衛生、の基本です。世界保健機関、WHOが示す『5つのタイミング』を覚えてください。1つ目、利用者に触れる前。2つ目、清潔・無菌操作の前。3つ目、体液に曝露する恐れのあったあと。4つ目、利用者に触れたあと。5つ目、利用者の周辺環境に触れたあと。ケアの流れの中で、このタイミングを意識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手洗いと、アルコール手指消毒、の使い分けです。流水と石けんでの手洗い。目に見える汚れがあるとき、ノロウイルスの対応時、食事前、トイレのあと。アルコール手指消毒。見た目に汚れがないとき、素早く何度も実施するとき。大事なのは、どちらも、指先、爪の間、指の間、親指、手首、この5か所が洗い残しやすい、ということ。30秒以上、ていねいに。これを1日に何十回繰り返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、標準予防策、スタンダードプリコーションです。これは、すべての利用者のすべての体液、血液、排泄物、粘膜、傷のある皮膚を、感染性があるものとして扱う考え方です。相手が感染者かどうかにかかわらず、これを適用します。具体的には、手指衛生、手袋、マスク、エプロン、アイガード、鋭利物の安全な取り扱い、リネン類の適切な扱い、環境の消毒。これが日常業務の土台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標準予防策に加えて、感染経路ごとに追加する、経路別予防策があります。接触予防策。疥癬、MRSA、CD菌など。手袋、エプロンを個人ごとに交換。飛沫予防策。インフルエンザ、コロナなど。サージカルマスク、対象者から2メートル距離。空気予防策。結核、麻疹など。N95マスク、陰圧室、が必要。感染症の種類で、必要な装備が違う。これを押さえ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E、個人防護具の着脱は、順番が決まっています。着るとき。エプロン、マスク、アイガード、手袋、の順。脱ぐとき。手袋、エプロン、アイガード、マスク、の順。脱ぐときこそ、汚染されている面に触れないよう、慎重に。脱いだあと、必ず手指消毒。練習を積まないと、とっさに体が動きません。今月中に、もう一度、チームで練習し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事例を見ていきます。1つ目、嘔吐物処理の場面です。食堂で、利用者Lさんが嘔吐しました。職員Aは、すぐにタオルで拭き取り、普通のゴミ箱に捨てました。翌日から、3人の利用者と、職員2人が、下痢と嘔吐を発症。ノロウイルスの集団感染でした。何が問題だったでしょうか。正しい処理手順、持ち出してはいけない道具、使用する消毒液の種類。それぞれ、どうあるべきだったか、グループで確認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つ目、手袋の使い回しです。職員Bは、利用者Mさんのオムツ交換のあと、手袋を外さずに、そのまま隣のNさんの口腔ケアを行いました。忙しかったから、どうせ手袋をしているから、という理由でした。手袋をしていても、それは菌の媒介者になります。利用者ごとに、手袋は必ず交換し、間に手指消毒を挟む。この原則を、どうすれば忙しい日でも徹底できるか、職場の工夫を考え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つ目、出勤停止の判断です。職員Cは、朝から少し熱っぽく、38度の発熱がありました。しかし、人手不足で迷惑をかけたくない、と出勤。マスクをつけて勤務しました。2日後、受け持ちユニットの利用者7人がインフルエンザを発症。Cさん本人も陽性でした。出勤すべきだったか、すべきでなかったか。施設のルールと、同僚・上司への連絡手順、早い段階で休めるバックアップ体制、を整理してみ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集団感染、アウトブレイクの初期対応を学びます。ステップ1、発生の確認。複数の利用者、職員に、同じ症状が出ていないか把握する。ステップ2、管理者・看護師・嘱託医への速やかな報告。ステップ3、感染者の隔離・ゾーニング。ステップ4、保健所への届出、行政への連絡。ステップ5、発生状況の記録と、職員全員への情報共有。初動の速さが、被害の広がりを決め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ゾーニングの基本を確認します。レッドゾーン、汚染区域。感染者のいる部屋、フロア。イエローゾーン、中間区域。PPEの着脱を行う場所。グリーンゾーン、清潔区域。事務所、休憩室、清潔物品置き場。区域間の移動は、必ずPPEの着脱と手指消毒を経る。動線を分ける、物品を分ける、人を分ける。これが感染拡大を防ぎ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つ目の事例、環境清掃です。職員Dは、感染者用の居室清掃のあと、同じモップと雑巾で、一般の廊下と他の居室も清掃しました。『清掃道具は共用』というのが、これまでの習慣でした。清掃道具は、区域ごと、用途ごとに分ける必要があります。手順書を更新し、道具に色分けや名札を付ける、など具体的な対策を決め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職員自身の健康管理も、感染症対策の大きな柱です。インフルエンザワクチン、コロナワクチンの接種。毎日の検温と、体調チェック。少しでも症状があれば、早めに申告し、早めに休む文化。結核健診、定期健診の受診。職員が元気でいることが、利用者を守る最大の予防策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己チェックに進みます。8つの項目について、できている、ときどき、できていない、の3段階で振り返ってください。できていない、と感じた項目があれば、それが次の1週間の行動目標です。同僚と互いに結果を見せ合うと、新たな気づきが得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まとめです。感染の3要素のうち、私たちが最もコントロールできるのは、経路、手指衛生。標準予防策は『全員に・全行為で』適用する。PPEは着脱の順番と、利用者ごとの交換が命。発症疑いの段階で早く休む・休ませる文化が、集団感染を防ぐ。明日からの行動目標として、ケア前後の手指衛生、利用者ごとの手袋交換、体調不良時の早めの相談、この3点を意識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本日の研修は以上です。ご清聴ありがとうございました。感染症対策は、マニュアルどおりにいかない現場の工夫が大切です。現場での困りごと、質問、改善案、遠慮なくお聞かせください。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40000"/>
            <a:ext cx="12193200" cy="19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57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6月　職員研修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484000"/>
            <a:ext cx="11088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Yu Gothic"/>
                <a:ea typeface="Yu Gothic"/>
              </a:rPr>
              <a:t>感染症対策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528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000" b="0">
                <a:solidFill>
                  <a:srgbClr val="222222"/>
                </a:solidFill>
                <a:latin typeface="Yu Gothic"/>
                <a:ea typeface="Yu Gothic"/>
              </a:rPr>
              <a:t>手指衛生と標準予防策を徹底する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4860000"/>
            <a:ext cx="11088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540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EEEEEE"/>
                </a:solidFill>
                <a:latin typeface="Yu Gothic"/>
                <a:ea typeface="Yu Gothic"/>
              </a:rPr>
              <a:t>実施方法：集合研修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進行：＿＿＿＿＿（施設内担当）　　日時：＿＿＿＿＿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本日の目的と到達目標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Yu Gothic"/>
                <a:ea typeface="Yu Gothic"/>
              </a:rPr>
              <a:t>この研修が終わったとき、受講者は次ができるようになります。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440000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1458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感染が成立する3要素を説明できる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2015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6000" y="2033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手指衛生の5つのタイミングを実践できる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00" y="2591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6000" y="2609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標準予防策と経路別予防策の違いを理解する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3167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000" y="3186000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PPEを正しい順序で着脱できる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0000" y="3743999"/>
            <a:ext cx="432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  <a:ea typeface="Yu Gothic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3761999"/>
            <a:ext cx="10800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アウトブレイクの初期対応の流れを知る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1. なぜ施設で感染対策が重要か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高齢者は免疫機能低下・基礎疾患・低栄養で感染しやすく重症化しやすい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集団生活の場なので1人の感染が全体に広がりやすい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職員の手・共有物品・空調を介して短時間で拡大する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インフル・ノロ・コロナ等は命に関わる事態を招く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『たかが風邪』の油断が最大の敵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2. 感染の3要素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感染源：ウイルス・細菌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感染経路：手指／飛沫／接触／空気／物品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宿主：人（抵抗力が落ちている高齢者）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私たちが最もコントロールできるのは『経路』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経路を断つ：手指衛生・PPE・環境清掃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『菌を減らす』より『伝播を止める』のほうが現場で効果大。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3. 施設で注意すべき主な感染症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ウイルス性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・インフルエンザ（冬場の集団発生）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・ノロウイルス（嘔吐物処理が鍵）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・新型コロナ（エアロゾル感染）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・RSウイルス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・帯状疱疹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細菌・その他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・MRSA（耐性菌）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・クロストリジオイデス・ディフィシル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・結核（再燃に注意）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・疥癬（強いかゆみ）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・食中毒（サルモネラ等）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4. 手指衛生の5つのタイミング（WHO）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利用者に触れる前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清潔／無菌操作の前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体液曝露の恐れがあったあと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利用者に触れたあと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利用者の周辺環境に触れたあと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手指衛生は感染対策の最重要ポイント。ケアの流れの中に組み込む。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5. 手洗い vs アルコール手指消毒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石けんと流水で手洗い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・目に見える汚れがあるとき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・ノロウイルス対応時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・食事前・トイレ後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・30秒以上ていねいに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・ペーパータオルで拭く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アルコール手指消毒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・見た目に汚れがないとき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・素早く何度も実施する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・1回の量は適量（3mL程度）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・乾くまで擦り込む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・指先・爪・親指・手首を意識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6. 標準予防策（スタンダードプリコーション）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『すべての利用者・すべての体液』を感染性があるものとして扱う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相手が感染者かどうかにかかわらず適用する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手指衛生・手袋・マスク・エプロン・アイガード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鋭利物の安全な取り扱い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リネン類の適切な扱い・環境の消毒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000" y="354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4000" y="338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日常業務の土台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7. 経路別予防策（+標準予防策）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接触予防策：疥癬・MRSA・CD菌　→ 手袋・エプロンを個人ごと交換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飛沫予防策：インフル・コロナ　→ サージカルマスク・2m距離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空気予防策：結核・麻疹　→ N95マスク・陰圧室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感染症により装備が異なる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看護師・嘱託医と連携し適切な装備を選ぶ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8. PPE の着脱順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着るとき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・① エプロン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・② マスク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・③ アイガード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・④ 手袋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最後に手袋で固定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脱ぐとき（汚染面に触れない）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・① 手袋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・② エプロン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・③ アイガード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・④ マスク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・→ 脱衣後に必ず手指消毒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9. 事例① 嘔吐物処理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食堂で利用者Lさんが嘔吐した。職員Aはすぐにタオルで拭き取り、普通のゴミ箱に捨てた。翌日から利用者3人と職員2人が下痢・嘔吐を発症。ノロウイルスの集団感染となった。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処理手順のどこが問題でしたか？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必要なPPE・消毒薬（濃度）は何ですか？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使った道具をどう処分すべきですか？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10. 事例② 手袋の使い回し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職員Bは、利用者Mさんのオムツ交換のあと、手袋を外さずに隣のNさんの口腔ケアを行った。『忙しかった』『手袋をしているから』という理由だった。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手袋をしていれば清潔と言えますか？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利用者ごとに手袋交換を徹底するには、どう工夫しますか？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交換を忘れがちな場面を職場で共有してください。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11. 事例③ 発熱時の出勤判断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職員Cは朝から38度の発熱があったが、人手不足で迷惑をかけたくないと出勤。マスク着用で勤務したが、2日後にユニットの利用者7人がインフル発症。Cも陽性だった。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Cは出勤すべきでしたか？判断の基準は？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バックアップ体制がないから出勤する、という状況をどう変えますか？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発熱時の連絡手順を職場で決めてみてください。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12. アウトブレイク初期対応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① 発生の確認（複数の同症状を把握）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② 管理者・看護師・嘱託医へ速やかに報告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③ 感染者の隔離・ゾーニング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④ 保健所への届出・行政連絡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⑤ 発生状況を記録し職員全員で共有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000" y="5832000"/>
            <a:ext cx="11484000" cy="61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5886000"/>
            <a:ext cx="11160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300" b="1">
                <a:solidFill>
                  <a:srgbClr val="1F4E79"/>
                </a:solidFill>
                <a:latin typeface="Yu Gothic"/>
                <a:ea typeface="Yu Gothic"/>
              </a:rPr>
              <a:t>▶ 初動の速さが被害の広がりを決める。迷ったら報告。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13. ゾーニングの基本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5580000" cy="39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区域の分け方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5580000" cy="450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・レッド：汚染区域（感染者の居室）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・イエロー：中間（PPE着脱場所）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・グリーン：清潔（事務所・休憩室）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・区域間移動は必ず着脱+手指消毒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・動線／物品／人を分ける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28000" y="864000"/>
            <a:ext cx="5580000" cy="396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000" y="917999"/>
            <a:ext cx="540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Yu Gothic"/>
                <a:ea typeface="Yu Gothic"/>
              </a:rPr>
              <a:t>物品管理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28000" y="1260000"/>
            <a:ext cx="5580000" cy="450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000" y="1368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・清掃道具は区域ごとに分ける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000" y="1800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・リネンは専用袋・専用カート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000" y="2232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・食器は可能なら使い捨てを選択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000" y="2664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・共用物品には色分けラベル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000" y="3096000"/>
            <a:ext cx="5364000" cy="432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・ゴミは感染性廃棄物として分別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14. 事例④ 環境清掃の共用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864000"/>
            <a:ext cx="11484000" cy="36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8000" y="900000"/>
            <a:ext cx="11160000" cy="324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</a:rPr>
              <a:t>事例（グループ討議用）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11484000" cy="2160000"/>
          </a:xfrm>
          <a:prstGeom prst="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1332000"/>
            <a:ext cx="11196000" cy="20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職員Dは、感染者居室の清掃のあと、同じモップ・雑巾で一般廊下と他の居室も清掃した。『清掃道具は共用』がこれまでの習慣だった。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600000"/>
            <a:ext cx="11484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考えてみましょう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8000" y="3960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Q1.　この運用のどこが問題ですか？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4392000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Q2.　道具はどう分けるべきですか？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000" y="4823999"/>
            <a:ext cx="11196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Q3.　手順書の更新ポイントを3つ挙げてください。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15. ワクチン・職員の健康管理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000" y="1026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4000" y="864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インフルエンザ／コロナワクチンの接種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" y="1530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4000" y="1368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毎日の検温・体調チェック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000" y="2033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4000" y="1871999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少しでも症状があれば早めに申告・休む文化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000" y="2538000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4000" y="2376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結核健診・定期健康診断の受診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000" y="3041999"/>
            <a:ext cx="125999" cy="12599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4000" y="2880000"/>
            <a:ext cx="11160000" cy="503999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0">
                <a:solidFill>
                  <a:srgbClr val="222222"/>
                </a:solidFill>
                <a:latin typeface="Yu Gothic"/>
                <a:ea typeface="Yu Gothic"/>
              </a:rPr>
              <a:t>職員が元気でいることが最大の予防策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自己チェック（受講後に記入）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Yu Gothic"/>
                <a:ea typeface="Yu Gothic"/>
              </a:rPr>
              <a:t>できている=◎　ときどき=○　できていない=△</a:t>
            </a:r>
          </a:p>
        </p:txBody>
      </p:sp>
      <p:sp>
        <p:nvSpPr>
          <p:cNvPr id="6" name="Rectangle 5"/>
          <p:cNvSpPr/>
          <p:nvPr/>
        </p:nvSpPr>
        <p:spPr>
          <a:xfrm>
            <a:off x="10440000" y="12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40000" y="13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3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1.　ケア前後に手指衛生を行っている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10440000" y="1745999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0" y="18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17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2.　利用者ごとに手袋・エプロンを交換している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0000" y="21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40000" y="22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" y="223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3.　標準予防策の意味を説明できる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40000" y="26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40000" y="27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000" y="26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4.　PPEを正しい順序で着脱できる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40000" y="30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40000" y="31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0000" y="31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5.　嘔吐物処理キットの場所と手順を知っている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440000" y="35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0000" y="36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0000" y="358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6.　体調不良時は無理せず申告・休む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440000" y="399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0000" y="405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0000" y="4031999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7.　ワクチン接種・定期健診を受けている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40000" y="4446000"/>
            <a:ext cx="1332000" cy="360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0000" y="4500000"/>
            <a:ext cx="1332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400" b="0">
                <a:solidFill>
                  <a:srgbClr val="1F4E79"/>
                </a:solidFill>
                <a:latin typeface="Yu Gothic"/>
                <a:ea typeface="Yu Gothic"/>
              </a:rPr>
              <a:t>◎ ・ ○ ・ 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0000" y="4482000"/>
            <a:ext cx="990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8.　気になる感染症の兆候を共有している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576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16000" y="90000"/>
            <a:ext cx="8640000" cy="396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</a:rPr>
              <a:t>まとめ・今日から実践すること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108000"/>
            <a:ext cx="234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Yu Gothic"/>
                <a:ea typeface="Yu Gothic"/>
              </a:rPr>
              <a:t>6月　みんなの介護ゆうあい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792000"/>
            <a:ext cx="11520000" cy="36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Yu Gothic"/>
                <a:ea typeface="Yu Gothic"/>
              </a:rPr>
              <a:t>本日の要点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396000" y="1368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1224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経路を断つのが最大の対策。手指衛生が要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396000" y="1836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1692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標準予防策は『全員・全行為』に適用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6000" y="2304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2160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PPE は着脱順と利用者ごとの交換が命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000" y="2772000"/>
            <a:ext cx="180000" cy="1800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628000"/>
            <a:ext cx="10980000" cy="46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600" b="0">
                <a:solidFill>
                  <a:srgbClr val="222222"/>
                </a:solidFill>
                <a:latin typeface="Yu Gothic"/>
                <a:ea typeface="Yu Gothic"/>
              </a:rPr>
              <a:t>早く休む・休ませる文化が集団感染を防ぐ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5040000"/>
            <a:ext cx="11484000" cy="1152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3999" y="5112000"/>
            <a:ext cx="11196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Yu Gothic"/>
                <a:ea typeface="Yu Gothic"/>
              </a:rPr>
              <a:t>明日からの行動目標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3999" y="5436000"/>
            <a:ext cx="11196000" cy="72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1400" b="0">
                <a:solidFill>
                  <a:srgbClr val="222222"/>
                </a:solidFill>
                <a:latin typeface="Yu Gothic"/>
                <a:ea typeface="Yu Gothic"/>
              </a:rPr>
              <a:t>① ケア前後の手指衛生を1週間徹底し、同僚と声掛けし合う。② 利用者ごとに手袋を交換する場面をリスト化し、チームで共有する。③ 体調不良のときは、遠慮なく上司に連絡し早めに休む。④ 嘔吐物処理キットの位置と手順を再確認する。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23999"/>
            <a:ext cx="12193200" cy="216000"/>
          </a:xfrm>
          <a:prstGeom prst="rect">
            <a:avLst/>
          </a:prstGeom>
          <a:solidFill>
            <a:srgbClr val="E7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6000" y="6642000"/>
            <a:ext cx="7200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みんなの介護ゆうあい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00" y="6642000"/>
            <a:ext cx="2268000" cy="1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Yu Gothic"/>
                <a:ea typeface="Yu Gothic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2160000"/>
            <a:ext cx="11088000" cy="108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Yu Gothic"/>
                <a:ea typeface="Yu Gothic"/>
              </a:rPr>
              <a:t>質疑応答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3600000"/>
            <a:ext cx="11088000" cy="540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2200" b="0">
                <a:solidFill>
                  <a:srgbClr val="EEEEEE"/>
                </a:solidFill>
                <a:latin typeface="Yu Gothic"/>
                <a:ea typeface="Yu Gothic"/>
              </a:rPr>
              <a:t>ご清聴ありがとうございました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5760000"/>
            <a:ext cx="11088000" cy="28800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ctr"/>
            <a:r>
              <a:rPr sz="1200" b="0">
                <a:solidFill>
                  <a:srgbClr val="DDDDDD"/>
                </a:solidFill>
                <a:latin typeface="Yu Gothic"/>
                <a:ea typeface="Yu Gothic"/>
              </a:rPr>
              <a:t>6月　感染症対策　／　みんなの介護ゆうあい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