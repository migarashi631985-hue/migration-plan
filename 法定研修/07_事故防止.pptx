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32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月の職員研修を始めます。本日のテーマは、事故防止です。介護現場では、転倒、誤嚥、誤薬、褥瘡など、さまざまな事故のリスクがあります。ヒヤリハットを見逃さず、仕組みで事故を防ぐ、この考え方を一緒に身につけ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到達目標は、次の5つです。1つ目、施設で起こりやすい事故の種類と、発生しやすい場面を挙げられること。2つ目、ヒヤリハットと事故の違いを理解し、ハインリッヒの法則を説明できること。3つ目、事故発生時の初期対応の流れを知ること。4つ目、報告書、いわゆるインシデントレポートを、正しく書けること。5つ目、再発防止のPDCAサイクルを理解し、現場で実践でき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なぜ介護現場で事故が起こりやすいのか、を確認します。高齢者の身体特性。筋力・バランスの低下、視力・聴力の低下、認知機能の低下、薬の影響。環境要因。段差、滑りやすい床、照明不足、物が多い動線。人的要因。職員の疲労、知識不足、コミュニケーション不足、忙しさ。これらが重なったときに、事故が起こります。『うちは大丈夫』の油断が、最も危険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施設で起こりやすい事故の主な種類を整理します。1つ目、転倒・転落。介護事故の約半数を占めます。2つ目、誤嚥・窒息。食事介助中の窒息は命に関わります。3つ目、誤薬。薬の取り違え、飲ませ忘れ。4つ目、誤飲。認知症の方が異物を口にする。5つ目、褥瘡、いわゆる床ずれ。寝たきりの方で進行します。6つ目、熱傷、やけど。入浴・食事の場面で多いです。7つ目、行方不明、離設。認知症の方の離設対応。</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ハインリッヒの法則を紹介します。1件の重大な事故の裏には、29件の軽微な事故、そして、300件のヒヤリハット、が存在する、という法則です。300のヒヤリハット段階で気づいて対処すれば、大事故は防げる、ということです。逆に言うと、ヒヤリハットを隠す、報告しない、という文化の職場は、遅かれ早かれ重大事故を起こします。『ヒヤリを言える職場』『責めない文化』が、事故防止の出発点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ヒヤリハットとは、一歩間違えば事故になっていた、けれど実害がなかった、そんな場面です。例えば、移乗介助中に、利用者がぐらっとしたが、何とか支えた。薬を配るときに、他の方の薬を取りそうになった、が直前で気づいた。こうした場面を、ただの『危なかった』で終わらせるのではなく、必ず記録し、チームで共有します。そうすることで、次の一手、仕組みの改善、につなが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も多い、転倒・転落の予防について詳しく見ます。発生が多い場面。ベッドからの起き上がり、車椅子への移乗、トイレ、深夜の離床。対策。ベッドの高さ、センサーマット、手すり、履物の見直し。利用者の状態評価。ふらつき、視力、薬の副作用を多職種で評価。職員の動き。夜間の巡視タイミング、コール対応の速さ。『この人は転ぶ可能性が高い』と見立てて、備える、これが基本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誤嚥と窒息の予防です。食事中、食事直後の観察が最も重要です。姿勢。90度座位、頭を少し前に。食形態。嚥下機能に合わせた刻み、とろみ、ミキサー食。一口量。急がせない、小さく。食事後、30分は横にしない。口腔ケアで誤嚥性肺炎を予防。窒息が疑われたら、背部叩打法、腹部突き上げ法、すぐに実施できるようチームで訓練を。</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事例を見ていきます。1つ目、転倒の場面です。利用者Pさんは、夜中にトイレに起きる習慣がありました。普段はナースコールで呼ぶはずが、ある夜、コールせずに自分で動き出し、ベッドサイドで転倒、大腿骨を骨折しました。原因を考えてみましょう。コールを押さなかった理由。センサーマットの有無。夜間巡視のタイミング。誰か一人の責任にしない、仕組みの問題として、グループで議論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目、誤薬の事例です。職員Aは、朝の薬を配るときに、隣のBさんの薬をCさんに渡してしまいました。Cさんは気づかず服用。幸い、薬の内容が似ていて、大きな健康被害はありませんでした。しかし、これは重大インシデントです。5Rと呼ばれる確認、正しい利用者、正しい薬、正しい量、正しい時間、正しい方法。この5つを、毎回ダブルチェックする仕組みが、職場にあるか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目、誤嚥の事例です。食事介助中、利用者Qさんがむせ、その後、顔色が青白くなりました。職員Dは、『ちょっとむせただけ』と判断し、食事を続けさせました。食後1時間、Qさんは呼吸困難を訴え、救急搬送。誤嚥性肺炎を発症していました。むせた時点での判断、食事中止、看護師への連絡、SpO2測定など、どの段階で何をすべきだったか。現場で即応できるフロー、を整理してお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故発生時の初期対応の流れを確認します。ステップ1、利用者の安全確保、応援を呼ぶ。ステップ2、バイタル測定、意識・呼吸・出血の確認。ステップ3、看護師・嘱託医への連絡、必要なら救急要請。ステップ4、ご家族への連絡、管理者への報告。ステップ5、事実関係を記録、写真や時系列を残す。この順番を頭に入れ、動けるように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故報告書、インシデントレポートの書き方です。5W1Hを客観的に記録する。いつ、どこで、誰が、何を、なぜ、どのように。主観や感情、犯人探しは書かない。事実と対応のみ。原因分析では、なぜなぜ、を5回繰り返し、根本原因にたどり着く。再発防止策は、個人の注意ではなく、仕組みの改善で書く。チェック体制、手順書、環境、物品、の4観点で検討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つ目、ヒヤリハット報告の事例です。職員Eは、食事中にQさんが一瞬むせたが、すぐに落ち着いたので、忙しかったから、と報告書を書きませんでした。しかし同じようなヒヤリが、他の職員からも起こっていました。後日、同じ時間帯に別の利用者が誤嚥事故を起こしました。ヒヤリの段階で共有されていれば、食形態見直し、介助ペースの改善ができていたかもしれません。『報告するのが面倒』を乗り越える仕組み、も考え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再発防止のPDCAサイクルを紹介します。Plan、計画。事故・ヒヤリの分析と対策立案。Do、実行。対策をマニュアル・現場手順に落とし込む。Check、評価。対策後の状況を定期的にチェック。Act、改善。効果が出ていなければ再度対策を修正。1回やって終わり、ではなく、回し続けるのが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故後のご家族への連絡についても触れておきます。早い、正直、経緯が明確、今後の対応が具体、この4つが大切です。隠す、言い訳する、は最も信頼を失う行為です。連絡の窓口は施設長、管理者が原則。職員個人の謝罪ではなく、施設としての対応を示します。ご家族も『知らせてくれた』という事実を重視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ご家族対応の続きです。事故の内容、発生時刻、職員の対応、医師の診断、今後のケアの方針。この情報を、メモ帳1枚に整理してから電話するとスムーズです。電話後は、必ず訪問か面談で、直接説明する機会を設けましょう。誠実な対応の積み重ねが、訴訟リスクを下げ、信頼関係を維持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己チェックに進みます。8つの項目について、できている、ときどき、できていない、の3段階で振り返ってください。できていない、と感じた項目があれば、それが次の行動目標です。今月は、ヒヤリハット報告を1件以上提出する、を全職員の目標にし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まとめです。ハインリッヒの法則。300のヒヤリが1の重大事故に繋がる。転倒・誤嚥・誤薬は、施設事故の3大リスク。事故は個人のミスではなく、仕組みで防ぐ。ヒヤリを言える、責めない文化が出発点。事故時は、安全確保、バイタル、連絡、記録、の順で動く。明日からの行動として、ヒヤリハット報告の提出、5R確認、食事介助時の観察、この3点を意識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本日の研修は以上です。ご清聴ありがとうございました。現場で気になっている事故リスク、改善したいルール、報告書の書き方で迷うこと、何でも構いませんので、質問してください。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40000"/>
            <a:ext cx="12193200" cy="19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0000" y="576000"/>
            <a:ext cx="10800000" cy="432000"/>
          </a:xfrm>
          <a:prstGeom prst="rect">
            <a:avLst/>
          </a:prstGeom>
          <a:noFill/>
        </p:spPr>
        <p:txBody>
          <a:bodyPr wrap="square" lIns="36000" rIns="36000">
            <a:spAutoFit/>
          </a:bodyPr>
          <a:lstStyle/>
          <a:p>
            <a:pPr algn="l"/>
            <a:r>
              <a:rPr sz="2200" b="1">
                <a:solidFill>
                  <a:srgbClr val="FFFFFF"/>
                </a:solidFill>
                <a:latin typeface="Yu Gothic"/>
                <a:ea typeface="Yu Gothic"/>
              </a:rPr>
              <a:t>7月　職員研修</a:t>
            </a:r>
          </a:p>
        </p:txBody>
      </p:sp>
      <p:sp>
        <p:nvSpPr>
          <p:cNvPr id="5" name="TextBox 4"/>
          <p:cNvSpPr txBox="1"/>
          <p:nvPr/>
        </p:nvSpPr>
        <p:spPr>
          <a:xfrm>
            <a:off x="540000" y="2484000"/>
            <a:ext cx="11088000" cy="720000"/>
          </a:xfrm>
          <a:prstGeom prst="rect">
            <a:avLst/>
          </a:prstGeom>
          <a:noFill/>
        </p:spPr>
        <p:txBody>
          <a:bodyPr wrap="square" lIns="36000" rIns="36000">
            <a:spAutoFit/>
          </a:bodyPr>
          <a:lstStyle/>
          <a:p>
            <a:pPr algn="l"/>
            <a:r>
              <a:rPr sz="4000" b="1">
                <a:solidFill>
                  <a:srgbClr val="1F4E79"/>
                </a:solidFill>
                <a:latin typeface="Yu Gothic"/>
                <a:ea typeface="Yu Gothic"/>
              </a:rPr>
              <a:t>事故防止</a:t>
            </a:r>
          </a:p>
        </p:txBody>
      </p:sp>
      <p:sp>
        <p:nvSpPr>
          <p:cNvPr id="6" name="TextBox 5"/>
          <p:cNvSpPr txBox="1"/>
          <p:nvPr/>
        </p:nvSpPr>
        <p:spPr>
          <a:xfrm>
            <a:off x="540000" y="3528000"/>
            <a:ext cx="11088000" cy="540000"/>
          </a:xfrm>
          <a:prstGeom prst="rect">
            <a:avLst/>
          </a:prstGeom>
          <a:noFill/>
        </p:spPr>
        <p:txBody>
          <a:bodyPr wrap="square" lIns="36000" rIns="36000">
            <a:spAutoFit/>
          </a:bodyPr>
          <a:lstStyle/>
          <a:p>
            <a:pPr algn="l"/>
            <a:r>
              <a:rPr sz="2000" b="0">
                <a:solidFill>
                  <a:srgbClr val="222222"/>
                </a:solidFill>
                <a:latin typeface="Yu Gothic"/>
                <a:ea typeface="Yu Gothic"/>
              </a:rPr>
              <a:t>ヒヤリハットから仕組みで事故を防ぐ</a:t>
            </a:r>
          </a:p>
        </p:txBody>
      </p:sp>
      <p:sp>
        <p:nvSpPr>
          <p:cNvPr id="7" name="TextBox 6"/>
          <p:cNvSpPr txBox="1"/>
          <p:nvPr/>
        </p:nvSpPr>
        <p:spPr>
          <a:xfrm>
            <a:off x="540000" y="4860000"/>
            <a:ext cx="11088000" cy="360000"/>
          </a:xfrm>
          <a:prstGeom prst="rect">
            <a:avLst/>
          </a:prstGeom>
          <a:noFill/>
        </p:spPr>
        <p:txBody>
          <a:bodyPr wrap="square" lIns="36000" rIns="36000">
            <a:spAutoFit/>
          </a:bodyPr>
          <a:lstStyle/>
          <a:p>
            <a:pPr algn="l"/>
            <a:r>
              <a:rPr sz="2200" b="1">
                <a:solidFill>
                  <a:srgbClr val="FFFFFF"/>
                </a:solidFill>
                <a:latin typeface="Yu Gothic"/>
                <a:ea typeface="Yu Gothic"/>
              </a:rPr>
              <a:t>みんなの介護ゆうあい</a:t>
            </a:r>
          </a:p>
        </p:txBody>
      </p:sp>
      <p:sp>
        <p:nvSpPr>
          <p:cNvPr id="8" name="TextBox 7"/>
          <p:cNvSpPr txBox="1"/>
          <p:nvPr/>
        </p:nvSpPr>
        <p:spPr>
          <a:xfrm>
            <a:off x="540000" y="5400000"/>
            <a:ext cx="11088000" cy="288000"/>
          </a:xfrm>
          <a:prstGeom prst="rect">
            <a:avLst/>
          </a:prstGeom>
          <a:noFill/>
        </p:spPr>
        <p:txBody>
          <a:bodyPr wrap="square" lIns="36000" rIns="36000">
            <a:spAutoFit/>
          </a:bodyPr>
          <a:lstStyle/>
          <a:p>
            <a:pPr algn="l"/>
            <a:r>
              <a:rPr sz="1400" b="0">
                <a:solidFill>
                  <a:srgbClr val="EEEEEE"/>
                </a:solidFill>
                <a:latin typeface="Yu Gothic"/>
                <a:ea typeface="Yu Gothic"/>
              </a:rPr>
              <a:t>実施方法：集合研修</a:t>
            </a:r>
          </a:p>
        </p:txBody>
      </p:sp>
      <p:sp>
        <p:nvSpPr>
          <p:cNvPr id="9" name="TextBox 8"/>
          <p:cNvSpPr txBox="1"/>
          <p:nvPr/>
        </p:nvSpPr>
        <p:spPr>
          <a:xfrm>
            <a:off x="540000" y="5760000"/>
            <a:ext cx="11088000" cy="288000"/>
          </a:xfrm>
          <a:prstGeom prst="rect">
            <a:avLst/>
          </a:prstGeom>
          <a:noFill/>
        </p:spPr>
        <p:txBody>
          <a:bodyPr wrap="square" lIns="36000" rIns="36000">
            <a:spAutoFit/>
          </a:bodyPr>
          <a:lstStyle/>
          <a:p>
            <a:pPr algn="l"/>
            <a:r>
              <a:rPr sz="1200" b="0">
                <a:solidFill>
                  <a:srgbClr val="DDDDDD"/>
                </a:solidFill>
                <a:latin typeface="Yu Gothic"/>
                <a:ea typeface="Yu Gothic"/>
              </a:rPr>
              <a:t>進行：＿＿＿＿＿（施設内担当）　　日時：＿＿＿＿＿</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本日の目的と到達目標</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TextBox 4"/>
          <p:cNvSpPr txBox="1"/>
          <p:nvPr/>
        </p:nvSpPr>
        <p:spPr>
          <a:xfrm>
            <a:off x="360000" y="792000"/>
            <a:ext cx="11520000" cy="360000"/>
          </a:xfrm>
          <a:prstGeom prst="rect">
            <a:avLst/>
          </a:prstGeom>
          <a:noFill/>
        </p:spPr>
        <p:txBody>
          <a:bodyPr wrap="square" lIns="36000" rIns="36000">
            <a:spAutoFit/>
          </a:bodyPr>
          <a:lstStyle/>
          <a:p>
            <a:pPr algn="l"/>
            <a:r>
              <a:rPr sz="1600" b="0">
                <a:solidFill>
                  <a:srgbClr val="555555"/>
                </a:solidFill>
                <a:latin typeface="Yu Gothic"/>
                <a:ea typeface="Yu Gothic"/>
              </a:rPr>
              <a:t>この研修が終わったとき、受講者は次ができるようになります。</a:t>
            </a:r>
          </a:p>
        </p:txBody>
      </p:sp>
      <p:sp>
        <p:nvSpPr>
          <p:cNvPr id="6" name="Rectangle 5"/>
          <p:cNvSpPr/>
          <p:nvPr/>
        </p:nvSpPr>
        <p:spPr>
          <a:xfrm>
            <a:off x="360000" y="1440000"/>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0000" y="1440000"/>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1</a:t>
            </a:r>
          </a:p>
        </p:txBody>
      </p:sp>
      <p:sp>
        <p:nvSpPr>
          <p:cNvPr id="8" name="TextBox 7"/>
          <p:cNvSpPr txBox="1"/>
          <p:nvPr/>
        </p:nvSpPr>
        <p:spPr>
          <a:xfrm>
            <a:off x="936000" y="1458000"/>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施設で起こりやすい事故の種類と発生場面を挙げられる</a:t>
            </a:r>
          </a:p>
        </p:txBody>
      </p:sp>
      <p:sp>
        <p:nvSpPr>
          <p:cNvPr id="9" name="Rectangle 8"/>
          <p:cNvSpPr/>
          <p:nvPr/>
        </p:nvSpPr>
        <p:spPr>
          <a:xfrm>
            <a:off x="360000" y="2015999"/>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000" y="2015999"/>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2</a:t>
            </a:r>
          </a:p>
        </p:txBody>
      </p:sp>
      <p:sp>
        <p:nvSpPr>
          <p:cNvPr id="11" name="TextBox 10"/>
          <p:cNvSpPr txBox="1"/>
          <p:nvPr/>
        </p:nvSpPr>
        <p:spPr>
          <a:xfrm>
            <a:off x="936000" y="2033999"/>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ヒヤリハットと事故の違いを理解しハインリッヒの法則を説明できる</a:t>
            </a:r>
          </a:p>
        </p:txBody>
      </p:sp>
      <p:sp>
        <p:nvSpPr>
          <p:cNvPr id="12" name="Rectangle 11"/>
          <p:cNvSpPr/>
          <p:nvPr/>
        </p:nvSpPr>
        <p:spPr>
          <a:xfrm>
            <a:off x="360000" y="2591999"/>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00" y="2591999"/>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3</a:t>
            </a:r>
          </a:p>
        </p:txBody>
      </p:sp>
      <p:sp>
        <p:nvSpPr>
          <p:cNvPr id="14" name="TextBox 13"/>
          <p:cNvSpPr txBox="1"/>
          <p:nvPr/>
        </p:nvSpPr>
        <p:spPr>
          <a:xfrm>
            <a:off x="936000" y="2609999"/>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事故発生時の初期対応の流れを知る</a:t>
            </a:r>
          </a:p>
        </p:txBody>
      </p:sp>
      <p:sp>
        <p:nvSpPr>
          <p:cNvPr id="15" name="Rectangle 14"/>
          <p:cNvSpPr/>
          <p:nvPr/>
        </p:nvSpPr>
        <p:spPr>
          <a:xfrm>
            <a:off x="360000" y="3167999"/>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000" y="3167999"/>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4</a:t>
            </a:r>
          </a:p>
        </p:txBody>
      </p:sp>
      <p:sp>
        <p:nvSpPr>
          <p:cNvPr id="17" name="TextBox 16"/>
          <p:cNvSpPr txBox="1"/>
          <p:nvPr/>
        </p:nvSpPr>
        <p:spPr>
          <a:xfrm>
            <a:off x="936000" y="3186000"/>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インシデントレポートを正しく書ける</a:t>
            </a:r>
          </a:p>
        </p:txBody>
      </p:sp>
      <p:sp>
        <p:nvSpPr>
          <p:cNvPr id="18" name="Rectangle 17"/>
          <p:cNvSpPr/>
          <p:nvPr/>
        </p:nvSpPr>
        <p:spPr>
          <a:xfrm>
            <a:off x="360000" y="3743999"/>
            <a:ext cx="432000" cy="432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0000" y="3743999"/>
            <a:ext cx="432000" cy="432000"/>
          </a:xfrm>
          <a:prstGeom prst="rect">
            <a:avLst/>
          </a:prstGeom>
          <a:noFill/>
        </p:spPr>
        <p:txBody>
          <a:bodyPr wrap="square" lIns="36000" rIns="36000">
            <a:spAutoFit/>
          </a:bodyPr>
          <a:lstStyle/>
          <a:p>
            <a:pPr algn="ctr"/>
            <a:r>
              <a:rPr sz="2000" b="1">
                <a:solidFill>
                  <a:srgbClr val="FFFFFF"/>
                </a:solidFill>
                <a:latin typeface="Yu Gothic"/>
                <a:ea typeface="Yu Gothic"/>
              </a:rPr>
              <a:t>5</a:t>
            </a:r>
          </a:p>
        </p:txBody>
      </p:sp>
      <p:sp>
        <p:nvSpPr>
          <p:cNvPr id="20" name="TextBox 19"/>
          <p:cNvSpPr txBox="1"/>
          <p:nvPr/>
        </p:nvSpPr>
        <p:spPr>
          <a:xfrm>
            <a:off x="936000" y="3761999"/>
            <a:ext cx="10800000" cy="432000"/>
          </a:xfrm>
          <a:prstGeom prst="rect">
            <a:avLst/>
          </a:prstGeom>
          <a:noFill/>
        </p:spPr>
        <p:txBody>
          <a:bodyPr wrap="square" lIns="36000" rIns="36000">
            <a:spAutoFit/>
          </a:bodyPr>
          <a:lstStyle/>
          <a:p>
            <a:pPr algn="l"/>
            <a:r>
              <a:rPr sz="1800" b="0">
                <a:solidFill>
                  <a:srgbClr val="222222"/>
                </a:solidFill>
                <a:latin typeface="Yu Gothic"/>
                <a:ea typeface="Yu Gothic"/>
              </a:rPr>
              <a:t>再発防止のPDCAサイクルを実践できる</a:t>
            </a:r>
          </a:p>
        </p:txBody>
      </p:sp>
      <p:sp>
        <p:nvSpPr>
          <p:cNvPr id="21" name="Rectangle 20"/>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3" name="TextBox 22"/>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 なぜ介護現場で事故は起こるか</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Rectangle 4"/>
          <p:cNvSpPr/>
          <p:nvPr/>
        </p:nvSpPr>
        <p:spPr>
          <a:xfrm>
            <a:off x="360000" y="864000"/>
            <a:ext cx="5580000" cy="39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2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利用者・環境の要因</a:t>
            </a:r>
          </a:p>
        </p:txBody>
      </p:sp>
      <p:sp>
        <p:nvSpPr>
          <p:cNvPr id="7" name="Rectangle 6"/>
          <p:cNvSpPr/>
          <p:nvPr/>
        </p:nvSpPr>
        <p:spPr>
          <a:xfrm>
            <a:off x="360000" y="1260000"/>
            <a:ext cx="5580000" cy="450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8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・筋力・バランスの低下</a:t>
            </a:r>
          </a:p>
        </p:txBody>
      </p:sp>
      <p:sp>
        <p:nvSpPr>
          <p:cNvPr id="9" name="TextBox 8"/>
          <p:cNvSpPr txBox="1"/>
          <p:nvPr/>
        </p:nvSpPr>
        <p:spPr>
          <a:xfrm>
            <a:off x="468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・視力・聴力の低下</a:t>
            </a:r>
          </a:p>
        </p:txBody>
      </p:sp>
      <p:sp>
        <p:nvSpPr>
          <p:cNvPr id="10" name="TextBox 9"/>
          <p:cNvSpPr txBox="1"/>
          <p:nvPr/>
        </p:nvSpPr>
        <p:spPr>
          <a:xfrm>
            <a:off x="468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・認知機能の低下</a:t>
            </a:r>
          </a:p>
        </p:txBody>
      </p:sp>
      <p:sp>
        <p:nvSpPr>
          <p:cNvPr id="11" name="TextBox 10"/>
          <p:cNvSpPr txBox="1"/>
          <p:nvPr/>
        </p:nvSpPr>
        <p:spPr>
          <a:xfrm>
            <a:off x="468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・薬の副作用</a:t>
            </a:r>
          </a:p>
        </p:txBody>
      </p:sp>
      <p:sp>
        <p:nvSpPr>
          <p:cNvPr id="12" name="TextBox 11"/>
          <p:cNvSpPr txBox="1"/>
          <p:nvPr/>
        </p:nvSpPr>
        <p:spPr>
          <a:xfrm>
            <a:off x="468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・段差・滑りやすい床・照明不足</a:t>
            </a:r>
          </a:p>
        </p:txBody>
      </p:sp>
      <p:sp>
        <p:nvSpPr>
          <p:cNvPr id="13" name="Rectangle 12"/>
          <p:cNvSpPr/>
          <p:nvPr/>
        </p:nvSpPr>
        <p:spPr>
          <a:xfrm>
            <a:off x="6228000" y="864000"/>
            <a:ext cx="5580000" cy="396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0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人的・組織の要因</a:t>
            </a:r>
          </a:p>
        </p:txBody>
      </p:sp>
      <p:sp>
        <p:nvSpPr>
          <p:cNvPr id="15" name="Rectangle 14"/>
          <p:cNvSpPr/>
          <p:nvPr/>
        </p:nvSpPr>
        <p:spPr>
          <a:xfrm>
            <a:off x="6228000" y="1260000"/>
            <a:ext cx="5580000" cy="450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・職員の疲労・集中力低下</a:t>
            </a:r>
          </a:p>
        </p:txBody>
      </p:sp>
      <p:sp>
        <p:nvSpPr>
          <p:cNvPr id="17" name="TextBox 16"/>
          <p:cNvSpPr txBox="1"/>
          <p:nvPr/>
        </p:nvSpPr>
        <p:spPr>
          <a:xfrm>
            <a:off x="6336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・知識不足・経験差</a:t>
            </a:r>
          </a:p>
        </p:txBody>
      </p:sp>
      <p:sp>
        <p:nvSpPr>
          <p:cNvPr id="18" name="TextBox 17"/>
          <p:cNvSpPr txBox="1"/>
          <p:nvPr/>
        </p:nvSpPr>
        <p:spPr>
          <a:xfrm>
            <a:off x="6336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・申し送り・記録の不備</a:t>
            </a:r>
          </a:p>
        </p:txBody>
      </p:sp>
      <p:sp>
        <p:nvSpPr>
          <p:cNvPr id="19" name="TextBox 18"/>
          <p:cNvSpPr txBox="1"/>
          <p:nvPr/>
        </p:nvSpPr>
        <p:spPr>
          <a:xfrm>
            <a:off x="6336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・忙しさ・人員不足</a:t>
            </a:r>
          </a:p>
        </p:txBody>
      </p:sp>
      <p:sp>
        <p:nvSpPr>
          <p:cNvPr id="20" name="TextBox 19"/>
          <p:cNvSpPr txBox="1"/>
          <p:nvPr/>
        </p:nvSpPr>
        <p:spPr>
          <a:xfrm>
            <a:off x="6336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・『うちは大丈夫』という油断</a:t>
            </a:r>
          </a:p>
        </p:txBody>
      </p:sp>
      <p:sp>
        <p:nvSpPr>
          <p:cNvPr id="21" name="Rectangle 20"/>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3" name="TextBox 22"/>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2. 施設で起こりやすい事故の種類</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① 転倒・転落（全体の約半数）</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② 誤嚥・窒息（命に関わる）</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③ 誤薬（取り違え・飲ませ忘れ）</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④ 誤飲（認知症の方の異物摂取）</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⑤ 褥瘡（寝たきりで進行）</a:t>
            </a:r>
          </a:p>
        </p:txBody>
      </p:sp>
      <p:sp>
        <p:nvSpPr>
          <p:cNvPr id="15" name="Rectangle 14"/>
          <p:cNvSpPr/>
          <p:nvPr/>
        </p:nvSpPr>
        <p:spPr>
          <a:xfrm>
            <a:off x="432000" y="354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4000" y="338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⑥ 熱傷（入浴・食事の湯気）</a:t>
            </a:r>
          </a:p>
        </p:txBody>
      </p:sp>
      <p:sp>
        <p:nvSpPr>
          <p:cNvPr id="17" name="Rectangle 16"/>
          <p:cNvSpPr/>
          <p:nvPr/>
        </p:nvSpPr>
        <p:spPr>
          <a:xfrm>
            <a:off x="432000" y="405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4000" y="388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⑦ 行方不明・離設</a:t>
            </a:r>
          </a:p>
        </p:txBody>
      </p:sp>
      <p:sp>
        <p:nvSpPr>
          <p:cNvPr id="19" name="Rectangle 18"/>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1" name="TextBox 20"/>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3. ハインリッヒの法則（1:29:300）</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1件の重大事故の裏に 29件の軽微事故／300件のヒヤリハット</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300のヒヤリ段階で気づけば、大事故は防げる</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隠す／報告しない文化は、必ず重大事故を生む</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『ヒヤリを言える職場』『責めない文化』が出発点</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報告のハードルを下げる工夫を全員で考える</a:t>
            </a:r>
          </a:p>
        </p:txBody>
      </p:sp>
      <p:sp>
        <p:nvSpPr>
          <p:cNvPr id="15" name="Rectangle 14"/>
          <p:cNvSpPr/>
          <p:nvPr/>
        </p:nvSpPr>
        <p:spPr>
          <a:xfrm>
            <a:off x="360000" y="5832000"/>
            <a:ext cx="11484000" cy="612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5886000"/>
            <a:ext cx="11160000" cy="540000"/>
          </a:xfrm>
          <a:prstGeom prst="rect">
            <a:avLst/>
          </a:prstGeom>
          <a:noFill/>
        </p:spPr>
        <p:txBody>
          <a:bodyPr wrap="square" lIns="36000" rIns="36000">
            <a:spAutoFit/>
          </a:bodyPr>
          <a:lstStyle/>
          <a:p>
            <a:pPr algn="l"/>
            <a:r>
              <a:rPr sz="1300" b="1">
                <a:solidFill>
                  <a:srgbClr val="1F4E79"/>
                </a:solidFill>
                <a:latin typeface="Yu Gothic"/>
                <a:ea typeface="Yu Gothic"/>
              </a:rPr>
              <a:t>▶ 事故ゼロより『ヒヤリ増』を評価する文化のほうが実効性が高い。</a:t>
            </a:r>
          </a:p>
        </p:txBody>
      </p:sp>
      <p:sp>
        <p:nvSpPr>
          <p:cNvPr id="17" name="Rectangle 16"/>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9" name="TextBox 18"/>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4. ヒヤリハットを記録する意味</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一歩間違えば事故だった場面を、必ず記録</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移乗でぐらっとした／薬を取り違えそうになった／むせた 等</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個人の気づきを、チームの財産にする</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仕組みの改善につなげる（手順・環境・人員）</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提出ハードルを下げる：短文OK、匿名OK、口頭でもまず上司へ</a:t>
            </a:r>
          </a:p>
        </p:txBody>
      </p:sp>
      <p:sp>
        <p:nvSpPr>
          <p:cNvPr id="15" name="Rectangle 14"/>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7" name="TextBox 16"/>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5. 転倒・転落の予防</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Rectangle 4"/>
          <p:cNvSpPr/>
          <p:nvPr/>
        </p:nvSpPr>
        <p:spPr>
          <a:xfrm>
            <a:off x="360000" y="864000"/>
            <a:ext cx="5580000" cy="39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2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発生が多い場面</a:t>
            </a:r>
          </a:p>
        </p:txBody>
      </p:sp>
      <p:sp>
        <p:nvSpPr>
          <p:cNvPr id="7" name="Rectangle 6"/>
          <p:cNvSpPr/>
          <p:nvPr/>
        </p:nvSpPr>
        <p:spPr>
          <a:xfrm>
            <a:off x="360000" y="1260000"/>
            <a:ext cx="5580000" cy="450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8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・ベッドからの起き上がり</a:t>
            </a:r>
          </a:p>
        </p:txBody>
      </p:sp>
      <p:sp>
        <p:nvSpPr>
          <p:cNvPr id="9" name="TextBox 8"/>
          <p:cNvSpPr txBox="1"/>
          <p:nvPr/>
        </p:nvSpPr>
        <p:spPr>
          <a:xfrm>
            <a:off x="468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・車椅子への移乗</a:t>
            </a:r>
          </a:p>
        </p:txBody>
      </p:sp>
      <p:sp>
        <p:nvSpPr>
          <p:cNvPr id="10" name="TextBox 9"/>
          <p:cNvSpPr txBox="1"/>
          <p:nvPr/>
        </p:nvSpPr>
        <p:spPr>
          <a:xfrm>
            <a:off x="468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・夜間のトイレ離床</a:t>
            </a:r>
          </a:p>
        </p:txBody>
      </p:sp>
      <p:sp>
        <p:nvSpPr>
          <p:cNvPr id="11" name="TextBox 10"/>
          <p:cNvSpPr txBox="1"/>
          <p:nvPr/>
        </p:nvSpPr>
        <p:spPr>
          <a:xfrm>
            <a:off x="468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・浴室・濡れた床</a:t>
            </a:r>
          </a:p>
        </p:txBody>
      </p:sp>
      <p:sp>
        <p:nvSpPr>
          <p:cNvPr id="12" name="TextBox 11"/>
          <p:cNvSpPr txBox="1"/>
          <p:nvPr/>
        </p:nvSpPr>
        <p:spPr>
          <a:xfrm>
            <a:off x="468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・食堂からの退室時</a:t>
            </a:r>
          </a:p>
        </p:txBody>
      </p:sp>
      <p:sp>
        <p:nvSpPr>
          <p:cNvPr id="13" name="Rectangle 12"/>
          <p:cNvSpPr/>
          <p:nvPr/>
        </p:nvSpPr>
        <p:spPr>
          <a:xfrm>
            <a:off x="6228000" y="864000"/>
            <a:ext cx="5580000" cy="396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0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予防策</a:t>
            </a:r>
          </a:p>
        </p:txBody>
      </p:sp>
      <p:sp>
        <p:nvSpPr>
          <p:cNvPr id="15" name="Rectangle 14"/>
          <p:cNvSpPr/>
          <p:nvPr/>
        </p:nvSpPr>
        <p:spPr>
          <a:xfrm>
            <a:off x="6228000" y="1260000"/>
            <a:ext cx="5580000" cy="450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・ベッドの高さ／センサーマット</a:t>
            </a:r>
          </a:p>
        </p:txBody>
      </p:sp>
      <p:sp>
        <p:nvSpPr>
          <p:cNvPr id="17" name="TextBox 16"/>
          <p:cNvSpPr txBox="1"/>
          <p:nvPr/>
        </p:nvSpPr>
        <p:spPr>
          <a:xfrm>
            <a:off x="6336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・手すり・滑り止めの履物</a:t>
            </a:r>
          </a:p>
        </p:txBody>
      </p:sp>
      <p:sp>
        <p:nvSpPr>
          <p:cNvPr id="18" name="TextBox 17"/>
          <p:cNvSpPr txBox="1"/>
          <p:nvPr/>
        </p:nvSpPr>
        <p:spPr>
          <a:xfrm>
            <a:off x="6336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・多職種による転倒リスク評価</a:t>
            </a:r>
          </a:p>
        </p:txBody>
      </p:sp>
      <p:sp>
        <p:nvSpPr>
          <p:cNvPr id="19" name="TextBox 18"/>
          <p:cNvSpPr txBox="1"/>
          <p:nvPr/>
        </p:nvSpPr>
        <p:spPr>
          <a:xfrm>
            <a:off x="6336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・薬の副作用の見直し（眠気・ふらつき）</a:t>
            </a:r>
          </a:p>
        </p:txBody>
      </p:sp>
      <p:sp>
        <p:nvSpPr>
          <p:cNvPr id="20" name="TextBox 19"/>
          <p:cNvSpPr txBox="1"/>
          <p:nvPr/>
        </p:nvSpPr>
        <p:spPr>
          <a:xfrm>
            <a:off x="6336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・夜間巡視のタイミング最適化</a:t>
            </a:r>
          </a:p>
        </p:txBody>
      </p:sp>
      <p:sp>
        <p:nvSpPr>
          <p:cNvPr id="21" name="Rectangle 20"/>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3" name="TextBox 22"/>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6. 誤嚥・窒息の予防</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Rectangle 4"/>
          <p:cNvSpPr/>
          <p:nvPr/>
        </p:nvSpPr>
        <p:spPr>
          <a:xfrm>
            <a:off x="360000" y="864000"/>
            <a:ext cx="5580000" cy="39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2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食事中・直後の基本</a:t>
            </a:r>
          </a:p>
        </p:txBody>
      </p:sp>
      <p:sp>
        <p:nvSpPr>
          <p:cNvPr id="7" name="Rectangle 6"/>
          <p:cNvSpPr/>
          <p:nvPr/>
        </p:nvSpPr>
        <p:spPr>
          <a:xfrm>
            <a:off x="360000" y="1260000"/>
            <a:ext cx="5580000" cy="450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8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・90度座位・頭を少し前傾</a:t>
            </a:r>
          </a:p>
        </p:txBody>
      </p:sp>
      <p:sp>
        <p:nvSpPr>
          <p:cNvPr id="9" name="TextBox 8"/>
          <p:cNvSpPr txBox="1"/>
          <p:nvPr/>
        </p:nvSpPr>
        <p:spPr>
          <a:xfrm>
            <a:off x="468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・嚥下機能に合う食形態（とろみ等）</a:t>
            </a:r>
          </a:p>
        </p:txBody>
      </p:sp>
      <p:sp>
        <p:nvSpPr>
          <p:cNvPr id="10" name="TextBox 9"/>
          <p:cNvSpPr txBox="1"/>
          <p:nvPr/>
        </p:nvSpPr>
        <p:spPr>
          <a:xfrm>
            <a:off x="468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・一口量を小さく・急がせない</a:t>
            </a:r>
          </a:p>
        </p:txBody>
      </p:sp>
      <p:sp>
        <p:nvSpPr>
          <p:cNvPr id="11" name="TextBox 10"/>
          <p:cNvSpPr txBox="1"/>
          <p:nvPr/>
        </p:nvSpPr>
        <p:spPr>
          <a:xfrm>
            <a:off x="468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・むせたら中止・観察</a:t>
            </a:r>
          </a:p>
        </p:txBody>
      </p:sp>
      <p:sp>
        <p:nvSpPr>
          <p:cNvPr id="12" name="TextBox 11"/>
          <p:cNvSpPr txBox="1"/>
          <p:nvPr/>
        </p:nvSpPr>
        <p:spPr>
          <a:xfrm>
            <a:off x="468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・食後30分は横にしない</a:t>
            </a:r>
          </a:p>
        </p:txBody>
      </p:sp>
      <p:sp>
        <p:nvSpPr>
          <p:cNvPr id="13" name="Rectangle 12"/>
          <p:cNvSpPr/>
          <p:nvPr/>
        </p:nvSpPr>
        <p:spPr>
          <a:xfrm>
            <a:off x="6228000" y="864000"/>
            <a:ext cx="5580000" cy="396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0000" y="917999"/>
            <a:ext cx="5400000" cy="324000"/>
          </a:xfrm>
          <a:prstGeom prst="rect">
            <a:avLst/>
          </a:prstGeom>
          <a:noFill/>
        </p:spPr>
        <p:txBody>
          <a:bodyPr wrap="square" lIns="36000" rIns="36000">
            <a:spAutoFit/>
          </a:bodyPr>
          <a:lstStyle/>
          <a:p>
            <a:pPr algn="l"/>
            <a:r>
              <a:rPr sz="1600" b="1">
                <a:solidFill>
                  <a:srgbClr val="FFFFFF"/>
                </a:solidFill>
                <a:latin typeface="Yu Gothic"/>
                <a:ea typeface="Yu Gothic"/>
              </a:rPr>
              <a:t>緊急時の対応</a:t>
            </a:r>
          </a:p>
        </p:txBody>
      </p:sp>
      <p:sp>
        <p:nvSpPr>
          <p:cNvPr id="15" name="Rectangle 14"/>
          <p:cNvSpPr/>
          <p:nvPr/>
        </p:nvSpPr>
        <p:spPr>
          <a:xfrm>
            <a:off x="6228000" y="1260000"/>
            <a:ext cx="5580000" cy="450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000" y="1368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・背部叩打法</a:t>
            </a:r>
          </a:p>
        </p:txBody>
      </p:sp>
      <p:sp>
        <p:nvSpPr>
          <p:cNvPr id="17" name="TextBox 16"/>
          <p:cNvSpPr txBox="1"/>
          <p:nvPr/>
        </p:nvSpPr>
        <p:spPr>
          <a:xfrm>
            <a:off x="6336000" y="1800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・腹部突き上げ法（ハイムリック）</a:t>
            </a:r>
          </a:p>
        </p:txBody>
      </p:sp>
      <p:sp>
        <p:nvSpPr>
          <p:cNvPr id="18" name="TextBox 17"/>
          <p:cNvSpPr txBox="1"/>
          <p:nvPr/>
        </p:nvSpPr>
        <p:spPr>
          <a:xfrm>
            <a:off x="6336000" y="2232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・大きい声で応援要請</a:t>
            </a:r>
          </a:p>
        </p:txBody>
      </p:sp>
      <p:sp>
        <p:nvSpPr>
          <p:cNvPr id="19" name="TextBox 18"/>
          <p:cNvSpPr txBox="1"/>
          <p:nvPr/>
        </p:nvSpPr>
        <p:spPr>
          <a:xfrm>
            <a:off x="6336000" y="2664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・SpO2 測定・看護師連絡</a:t>
            </a:r>
          </a:p>
        </p:txBody>
      </p:sp>
      <p:sp>
        <p:nvSpPr>
          <p:cNvPr id="20" name="TextBox 19"/>
          <p:cNvSpPr txBox="1"/>
          <p:nvPr/>
        </p:nvSpPr>
        <p:spPr>
          <a:xfrm>
            <a:off x="6336000" y="3096000"/>
            <a:ext cx="5364000" cy="432000"/>
          </a:xfrm>
          <a:prstGeom prst="rect">
            <a:avLst/>
          </a:prstGeom>
          <a:noFill/>
        </p:spPr>
        <p:txBody>
          <a:bodyPr wrap="square" lIns="36000" rIns="36000">
            <a:spAutoFit/>
          </a:bodyPr>
          <a:lstStyle/>
          <a:p>
            <a:pPr algn="l"/>
            <a:r>
              <a:rPr sz="1400" b="0">
                <a:solidFill>
                  <a:srgbClr val="222222"/>
                </a:solidFill>
                <a:latin typeface="Yu Gothic"/>
                <a:ea typeface="Yu Gothic"/>
              </a:rPr>
              <a:t>・チーム訓練を年数回実施</a:t>
            </a:r>
          </a:p>
        </p:txBody>
      </p:sp>
      <p:sp>
        <p:nvSpPr>
          <p:cNvPr id="21" name="Rectangle 20"/>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23" name="TextBox 22"/>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7. 事例① 夜間の転倒</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利用者Pさんは夜間にトイレへ起きる習慣。普段はコールで呼ぶが、ある夜コールせずに動き出し、ベッドサイドで転倒、大腿骨骨折。</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Pさんがコールしなかった理由として考えられることは？</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センサーマット・夜間巡視タイミングは十分でしたか？</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同じ事故を防ぐための仕組み（個人責任にしない）を3つ挙げてください。</a:t>
            </a:r>
          </a:p>
        </p:txBody>
      </p:sp>
      <p:sp>
        <p:nvSpPr>
          <p:cNvPr id="13" name="Rectangle 12"/>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5" name="TextBox 14"/>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8. 事例② 誤薬（取り違え）</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朝の薬を配るとき、職員Aが隣のBさんの薬をCさんに渡してしまった。Cさんは気づかず服用。幸い健康被害は無かったが重大インシデント。</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どの段階で、どんな確認ができたはずですか？</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5R（正しい利用者・薬・量・時間・方法）はどう実装しますか？</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配薬時のダブルチェック運用を改善してください。</a:t>
            </a:r>
          </a:p>
        </p:txBody>
      </p:sp>
      <p:sp>
        <p:nvSpPr>
          <p:cNvPr id="13" name="Rectangle 12"/>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5" name="TextBox 14"/>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9. 事例③ 誤嚥の見逃し</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食事介助中、Qさんがむせ顔色が青白くなった。職員Dは『ちょっとむせただけ』と判断し食事続行。食後1時間、呼吸困難となり救急搬送。誤嚥性肺炎。</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むせた時点で何をすべきでしたか？</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誤嚥疑い時の即応フロー（観察→中止→連絡→測定）を整理してください。</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食形態・姿勢の見直しを誰が、いつ行いますか？</a:t>
            </a:r>
          </a:p>
        </p:txBody>
      </p:sp>
      <p:sp>
        <p:nvSpPr>
          <p:cNvPr id="13" name="Rectangle 12"/>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5" name="TextBox 14"/>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10. 事故発生時の初期対応</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① 利用者の安全確保・応援要請</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② バイタル・意識・呼吸・出血の確認</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③ 看護師／嘱託医へ連絡（必要なら救急要請）</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④ ご家族・管理者へ報告</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⑤ 事実関係を記録（写真・時系列）</a:t>
            </a:r>
          </a:p>
        </p:txBody>
      </p:sp>
      <p:sp>
        <p:nvSpPr>
          <p:cNvPr id="15" name="Rectangle 14"/>
          <p:cNvSpPr/>
          <p:nvPr/>
        </p:nvSpPr>
        <p:spPr>
          <a:xfrm>
            <a:off x="360000" y="5832000"/>
            <a:ext cx="11484000" cy="612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5886000"/>
            <a:ext cx="11160000" cy="540000"/>
          </a:xfrm>
          <a:prstGeom prst="rect">
            <a:avLst/>
          </a:prstGeom>
          <a:noFill/>
        </p:spPr>
        <p:txBody>
          <a:bodyPr wrap="square" lIns="36000" rIns="36000">
            <a:spAutoFit/>
          </a:bodyPr>
          <a:lstStyle/>
          <a:p>
            <a:pPr algn="l"/>
            <a:r>
              <a:rPr sz="1300" b="1">
                <a:solidFill>
                  <a:srgbClr val="1F4E79"/>
                </a:solidFill>
                <a:latin typeface="Yu Gothic"/>
                <a:ea typeface="Yu Gothic"/>
              </a:rPr>
              <a:t>▶ 焦って自分で抱え込まない。まず応援、次にバイタル。</a:t>
            </a:r>
          </a:p>
        </p:txBody>
      </p:sp>
      <p:sp>
        <p:nvSpPr>
          <p:cNvPr id="17" name="Rectangle 16"/>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9" name="TextBox 18"/>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11. インシデントレポートの書き方</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5W1H を客観的に（いつ・どこで・誰が・何を・なぜ・どのように）</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主観・感情・犯人探しは書かない</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原因分析は『なぜなぜ5回』で根本原因へ</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再発防止策は個人の注意ではなく仕組み改善</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チェック体制／手順書／環境／物品 の4観点で検討</a:t>
            </a:r>
          </a:p>
        </p:txBody>
      </p:sp>
      <p:sp>
        <p:nvSpPr>
          <p:cNvPr id="15" name="Rectangle 14"/>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7" name="TextBox 16"/>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12. 事例④ ヒヤリ未報告</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Rectangle 4"/>
          <p:cNvSpPr/>
          <p:nvPr/>
        </p:nvSpPr>
        <p:spPr>
          <a:xfrm>
            <a:off x="360000" y="864000"/>
            <a:ext cx="11484000" cy="36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8000" y="900000"/>
            <a:ext cx="11160000" cy="324000"/>
          </a:xfrm>
          <a:prstGeom prst="rect">
            <a:avLst/>
          </a:prstGeom>
          <a:noFill/>
        </p:spPr>
        <p:txBody>
          <a:bodyPr wrap="square" lIns="36000" rIns="36000">
            <a:spAutoFit/>
          </a:bodyPr>
          <a:lstStyle/>
          <a:p>
            <a:pPr algn="l"/>
            <a:r>
              <a:rPr sz="1500" b="1">
                <a:solidFill>
                  <a:srgbClr val="FFFFFF"/>
                </a:solidFill>
                <a:latin typeface="Yu Gothic"/>
                <a:ea typeface="Yu Gothic"/>
              </a:rPr>
              <a:t>事例（グループ討議用）</a:t>
            </a:r>
          </a:p>
        </p:txBody>
      </p:sp>
      <p:sp>
        <p:nvSpPr>
          <p:cNvPr id="7" name="Rectangle 6"/>
          <p:cNvSpPr/>
          <p:nvPr/>
        </p:nvSpPr>
        <p:spPr>
          <a:xfrm>
            <a:off x="360000" y="1260000"/>
            <a:ext cx="11484000" cy="2160000"/>
          </a:xfrm>
          <a:prstGeom prst="rect">
            <a:avLst/>
          </a:prstGeom>
          <a:solidFill>
            <a:srgbClr val="FD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1332000"/>
            <a:ext cx="11196000" cy="2088000"/>
          </a:xfrm>
          <a:prstGeom prst="rect">
            <a:avLst/>
          </a:prstGeom>
          <a:noFill/>
        </p:spPr>
        <p:txBody>
          <a:bodyPr wrap="square" lIns="36000" rIns="36000">
            <a:spAutoFit/>
          </a:bodyPr>
          <a:lstStyle/>
          <a:p>
            <a:pPr algn="l"/>
            <a:r>
              <a:rPr sz="1600" b="0">
                <a:solidFill>
                  <a:srgbClr val="222222"/>
                </a:solidFill>
                <a:latin typeface="Yu Gothic"/>
                <a:ea typeface="Yu Gothic"/>
              </a:rPr>
              <a:t>職員Eは、食事中にQさんが一瞬むせたが『忙しかった』と報告書を書かなかった。同時期に他職員からも同様のヒヤリが発生。後日、別利用者が誤嚥事故に至った。</a:t>
            </a:r>
          </a:p>
        </p:txBody>
      </p:sp>
      <p:sp>
        <p:nvSpPr>
          <p:cNvPr id="9" name="TextBox 8"/>
          <p:cNvSpPr txBox="1"/>
          <p:nvPr/>
        </p:nvSpPr>
        <p:spPr>
          <a:xfrm>
            <a:off x="360000" y="3600000"/>
            <a:ext cx="11484000" cy="288000"/>
          </a:xfrm>
          <a:prstGeom prst="rect">
            <a:avLst/>
          </a:prstGeom>
          <a:noFill/>
        </p:spPr>
        <p:txBody>
          <a:bodyPr wrap="square" lIns="36000" rIns="36000">
            <a:spAutoFit/>
          </a:bodyPr>
          <a:lstStyle/>
          <a:p>
            <a:pPr algn="l"/>
            <a:r>
              <a:rPr sz="1500" b="1">
                <a:solidFill>
                  <a:srgbClr val="1F4E79"/>
                </a:solidFill>
                <a:latin typeface="Yu Gothic"/>
                <a:ea typeface="Yu Gothic"/>
              </a:rPr>
              <a:t>考えてみましょう</a:t>
            </a:r>
          </a:p>
        </p:txBody>
      </p:sp>
      <p:sp>
        <p:nvSpPr>
          <p:cNvPr id="10" name="TextBox 9"/>
          <p:cNvSpPr txBox="1"/>
          <p:nvPr/>
        </p:nvSpPr>
        <p:spPr>
          <a:xfrm>
            <a:off x="468000" y="3960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Q1.　ヒヤリが共有されていれば、何が変わっていましたか？</a:t>
            </a:r>
          </a:p>
        </p:txBody>
      </p:sp>
      <p:sp>
        <p:nvSpPr>
          <p:cNvPr id="11" name="TextBox 10"/>
          <p:cNvSpPr txBox="1"/>
          <p:nvPr/>
        </p:nvSpPr>
        <p:spPr>
          <a:xfrm>
            <a:off x="468000" y="4392000"/>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Q2.　『報告が面倒』を減らす仕組みを提案してください（記入時間・様式・匿名）。</a:t>
            </a:r>
          </a:p>
        </p:txBody>
      </p:sp>
      <p:sp>
        <p:nvSpPr>
          <p:cNvPr id="12" name="TextBox 11"/>
          <p:cNvSpPr txBox="1"/>
          <p:nvPr/>
        </p:nvSpPr>
        <p:spPr>
          <a:xfrm>
            <a:off x="468000" y="4823999"/>
            <a:ext cx="11196000" cy="396000"/>
          </a:xfrm>
          <a:prstGeom prst="rect">
            <a:avLst/>
          </a:prstGeom>
          <a:noFill/>
        </p:spPr>
        <p:txBody>
          <a:bodyPr wrap="square" lIns="36000" rIns="36000">
            <a:spAutoFit/>
          </a:bodyPr>
          <a:lstStyle/>
          <a:p>
            <a:pPr algn="l"/>
            <a:r>
              <a:rPr sz="1400" b="0">
                <a:solidFill>
                  <a:srgbClr val="222222"/>
                </a:solidFill>
                <a:latin typeface="Yu Gothic"/>
                <a:ea typeface="Yu Gothic"/>
              </a:rPr>
              <a:t>Q3.　今月、報告件数を増やす目標を具体的に決めてみてください。</a:t>
            </a:r>
          </a:p>
        </p:txBody>
      </p:sp>
      <p:sp>
        <p:nvSpPr>
          <p:cNvPr id="13" name="Rectangle 12"/>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5" name="TextBox 14"/>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13. 再発防止のPDCA</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Plan：事故・ヒヤリの分析と対策立案</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Do：マニュアル／現場手順に落とし込む</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Check：対策後の状況を定期チェック</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Act：効果が出なければ対策を修正</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1回で終わらず、回し続けるのがポイント</a:t>
            </a:r>
          </a:p>
        </p:txBody>
      </p:sp>
      <p:sp>
        <p:nvSpPr>
          <p:cNvPr id="15" name="Rectangle 14"/>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7" name="TextBox 16"/>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14. ご家族への連絡（基本4原則）</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① 早い　— 判明したらすぐに</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② 正直　— 隠さない・言い訳しない</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③ 経緯が明確　— 時系列で順を追って</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④ 今後の対応が具体　— 医療・ケアの方針</a:t>
            </a:r>
          </a:p>
        </p:txBody>
      </p:sp>
      <p:sp>
        <p:nvSpPr>
          <p:cNvPr id="13" name="Rectangle 12"/>
          <p:cNvSpPr/>
          <p:nvPr/>
        </p:nvSpPr>
        <p:spPr>
          <a:xfrm>
            <a:off x="360000" y="5832000"/>
            <a:ext cx="11484000" cy="612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999" y="5886000"/>
            <a:ext cx="11160000" cy="540000"/>
          </a:xfrm>
          <a:prstGeom prst="rect">
            <a:avLst/>
          </a:prstGeom>
          <a:noFill/>
        </p:spPr>
        <p:txBody>
          <a:bodyPr wrap="square" lIns="36000" rIns="36000">
            <a:spAutoFit/>
          </a:bodyPr>
          <a:lstStyle/>
          <a:p>
            <a:pPr algn="l"/>
            <a:r>
              <a:rPr sz="1300" b="1">
                <a:solidFill>
                  <a:srgbClr val="1F4E79"/>
                </a:solidFill>
                <a:latin typeface="Yu Gothic"/>
                <a:ea typeface="Yu Gothic"/>
              </a:rPr>
              <a:t>▶ 『知らせてくれた』という事実が信頼を守る。</a:t>
            </a:r>
          </a:p>
        </p:txBody>
      </p:sp>
      <p:sp>
        <p:nvSpPr>
          <p:cNvPr id="15" name="Rectangle 14"/>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7" name="TextBox 16"/>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15. ご家族への連絡（具体的な準備）</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Rectangle 4"/>
          <p:cNvSpPr/>
          <p:nvPr/>
        </p:nvSpPr>
        <p:spPr>
          <a:xfrm>
            <a:off x="432000" y="1026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4000" y="864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発生時刻・状況・職員の対応・医師の診断・今後の方針</a:t>
            </a:r>
          </a:p>
        </p:txBody>
      </p:sp>
      <p:sp>
        <p:nvSpPr>
          <p:cNvPr id="7" name="Rectangle 6"/>
          <p:cNvSpPr/>
          <p:nvPr/>
        </p:nvSpPr>
        <p:spPr>
          <a:xfrm>
            <a:off x="432000" y="1530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4000" y="1368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メモ1枚に整理してから電話するとスムーズ</a:t>
            </a:r>
          </a:p>
        </p:txBody>
      </p:sp>
      <p:sp>
        <p:nvSpPr>
          <p:cNvPr id="9" name="Rectangle 8"/>
          <p:cNvSpPr/>
          <p:nvPr/>
        </p:nvSpPr>
        <p:spPr>
          <a:xfrm>
            <a:off x="432000" y="2033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000" y="1871999"/>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窓口は施設長／管理者（個人謝罪ではなく施設対応）</a:t>
            </a:r>
          </a:p>
        </p:txBody>
      </p:sp>
      <p:sp>
        <p:nvSpPr>
          <p:cNvPr id="11" name="Rectangle 10"/>
          <p:cNvSpPr/>
          <p:nvPr/>
        </p:nvSpPr>
        <p:spPr>
          <a:xfrm>
            <a:off x="432000" y="2538000"/>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2376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電話後は訪問・面談で直接説明の場を設定</a:t>
            </a:r>
          </a:p>
        </p:txBody>
      </p:sp>
      <p:sp>
        <p:nvSpPr>
          <p:cNvPr id="13" name="Rectangle 12"/>
          <p:cNvSpPr/>
          <p:nvPr/>
        </p:nvSpPr>
        <p:spPr>
          <a:xfrm>
            <a:off x="432000" y="3041999"/>
            <a:ext cx="125999" cy="125999"/>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4000" y="2880000"/>
            <a:ext cx="11160000" cy="503999"/>
          </a:xfrm>
          <a:prstGeom prst="rect">
            <a:avLst/>
          </a:prstGeom>
          <a:noFill/>
        </p:spPr>
        <p:txBody>
          <a:bodyPr wrap="square" lIns="36000" rIns="36000">
            <a:spAutoFit/>
          </a:bodyPr>
          <a:lstStyle/>
          <a:p>
            <a:pPr algn="l"/>
            <a:r>
              <a:rPr sz="1800" b="0">
                <a:solidFill>
                  <a:srgbClr val="222222"/>
                </a:solidFill>
                <a:latin typeface="Yu Gothic"/>
                <a:ea typeface="Yu Gothic"/>
              </a:rPr>
              <a:t>誠実な対応の積み重ねが訴訟リスクを下げる</a:t>
            </a:r>
          </a:p>
        </p:txBody>
      </p:sp>
      <p:sp>
        <p:nvSpPr>
          <p:cNvPr id="15" name="Rectangle 14"/>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7" name="TextBox 16"/>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自己チェック（受講後に記入）</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TextBox 4"/>
          <p:cNvSpPr txBox="1"/>
          <p:nvPr/>
        </p:nvSpPr>
        <p:spPr>
          <a:xfrm>
            <a:off x="360000" y="792000"/>
            <a:ext cx="11520000" cy="360000"/>
          </a:xfrm>
          <a:prstGeom prst="rect">
            <a:avLst/>
          </a:prstGeom>
          <a:noFill/>
        </p:spPr>
        <p:txBody>
          <a:bodyPr wrap="square" lIns="36000" rIns="36000">
            <a:spAutoFit/>
          </a:bodyPr>
          <a:lstStyle/>
          <a:p>
            <a:pPr algn="l"/>
            <a:r>
              <a:rPr sz="1400" b="0">
                <a:solidFill>
                  <a:srgbClr val="555555"/>
                </a:solidFill>
                <a:latin typeface="Yu Gothic"/>
                <a:ea typeface="Yu Gothic"/>
              </a:rPr>
              <a:t>できている=◎　ときどき=○　できていない=△</a:t>
            </a:r>
          </a:p>
        </p:txBody>
      </p:sp>
      <p:sp>
        <p:nvSpPr>
          <p:cNvPr id="6" name="Rectangle 5"/>
          <p:cNvSpPr/>
          <p:nvPr/>
        </p:nvSpPr>
        <p:spPr>
          <a:xfrm>
            <a:off x="10440000" y="129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40000" y="135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8" name="TextBox 7"/>
          <p:cNvSpPr txBox="1"/>
          <p:nvPr/>
        </p:nvSpPr>
        <p:spPr>
          <a:xfrm>
            <a:off x="360000" y="133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1.　ヒヤリハットを毎月1件以上提出している</a:t>
            </a:r>
          </a:p>
        </p:txBody>
      </p:sp>
      <p:sp>
        <p:nvSpPr>
          <p:cNvPr id="9" name="Rectangle 8"/>
          <p:cNvSpPr/>
          <p:nvPr/>
        </p:nvSpPr>
        <p:spPr>
          <a:xfrm>
            <a:off x="10440000" y="1745999"/>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40000" y="180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11" name="TextBox 10"/>
          <p:cNvSpPr txBox="1"/>
          <p:nvPr/>
        </p:nvSpPr>
        <p:spPr>
          <a:xfrm>
            <a:off x="360000" y="178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2.　配薬時に5R確認／ダブルチェックを実施している</a:t>
            </a:r>
          </a:p>
        </p:txBody>
      </p:sp>
      <p:sp>
        <p:nvSpPr>
          <p:cNvPr id="12" name="Rectangle 11"/>
          <p:cNvSpPr/>
          <p:nvPr/>
        </p:nvSpPr>
        <p:spPr>
          <a:xfrm>
            <a:off x="10440000" y="219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40000" y="225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14" name="TextBox 13"/>
          <p:cNvSpPr txBox="1"/>
          <p:nvPr/>
        </p:nvSpPr>
        <p:spPr>
          <a:xfrm>
            <a:off x="360000" y="223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3.　食事介助中、むせや表情変化を観察している</a:t>
            </a:r>
          </a:p>
        </p:txBody>
      </p:sp>
      <p:sp>
        <p:nvSpPr>
          <p:cNvPr id="15" name="Rectangle 14"/>
          <p:cNvSpPr/>
          <p:nvPr/>
        </p:nvSpPr>
        <p:spPr>
          <a:xfrm>
            <a:off x="10440000" y="264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40000" y="270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17" name="TextBox 16"/>
          <p:cNvSpPr txBox="1"/>
          <p:nvPr/>
        </p:nvSpPr>
        <p:spPr>
          <a:xfrm>
            <a:off x="360000" y="268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4.　転倒リスクの高い利用者を把握し夜間巡視を調整している</a:t>
            </a:r>
          </a:p>
        </p:txBody>
      </p:sp>
      <p:sp>
        <p:nvSpPr>
          <p:cNvPr id="18" name="Rectangle 17"/>
          <p:cNvSpPr/>
          <p:nvPr/>
        </p:nvSpPr>
        <p:spPr>
          <a:xfrm>
            <a:off x="10440000" y="309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40000" y="315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20" name="TextBox 19"/>
          <p:cNvSpPr txBox="1"/>
          <p:nvPr/>
        </p:nvSpPr>
        <p:spPr>
          <a:xfrm>
            <a:off x="360000" y="3131999"/>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5.　事故発生時の初期対応フローを説明できる</a:t>
            </a:r>
          </a:p>
        </p:txBody>
      </p:sp>
      <p:sp>
        <p:nvSpPr>
          <p:cNvPr id="21" name="Rectangle 20"/>
          <p:cNvSpPr/>
          <p:nvPr/>
        </p:nvSpPr>
        <p:spPr>
          <a:xfrm>
            <a:off x="10440000" y="354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40000" y="360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23" name="TextBox 22"/>
          <p:cNvSpPr txBox="1"/>
          <p:nvPr/>
        </p:nvSpPr>
        <p:spPr>
          <a:xfrm>
            <a:off x="360000" y="3581999"/>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6.　報告書を客観的事実で記述できる</a:t>
            </a:r>
          </a:p>
        </p:txBody>
      </p:sp>
      <p:sp>
        <p:nvSpPr>
          <p:cNvPr id="24" name="Rectangle 23"/>
          <p:cNvSpPr/>
          <p:nvPr/>
        </p:nvSpPr>
        <p:spPr>
          <a:xfrm>
            <a:off x="10440000" y="399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40000" y="405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26" name="TextBox 25"/>
          <p:cNvSpPr txBox="1"/>
          <p:nvPr/>
        </p:nvSpPr>
        <p:spPr>
          <a:xfrm>
            <a:off x="360000" y="4031999"/>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7.　再発防止策を仕組みの言葉で書ける</a:t>
            </a:r>
          </a:p>
        </p:txBody>
      </p:sp>
      <p:sp>
        <p:nvSpPr>
          <p:cNvPr id="27" name="Rectangle 26"/>
          <p:cNvSpPr/>
          <p:nvPr/>
        </p:nvSpPr>
        <p:spPr>
          <a:xfrm>
            <a:off x="10440000" y="4446000"/>
            <a:ext cx="1332000" cy="360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40000" y="4500000"/>
            <a:ext cx="1332000" cy="288000"/>
          </a:xfrm>
          <a:prstGeom prst="rect">
            <a:avLst/>
          </a:prstGeom>
          <a:noFill/>
        </p:spPr>
        <p:txBody>
          <a:bodyPr wrap="square" lIns="36000" rIns="36000">
            <a:spAutoFit/>
          </a:bodyPr>
          <a:lstStyle/>
          <a:p>
            <a:pPr algn="ctr"/>
            <a:r>
              <a:rPr sz="1400" b="0">
                <a:solidFill>
                  <a:srgbClr val="1F4E79"/>
                </a:solidFill>
                <a:latin typeface="Yu Gothic"/>
                <a:ea typeface="Yu Gothic"/>
              </a:rPr>
              <a:t>◎ ・ ○ ・ △</a:t>
            </a:r>
          </a:p>
        </p:txBody>
      </p:sp>
      <p:sp>
        <p:nvSpPr>
          <p:cNvPr id="29" name="TextBox 28"/>
          <p:cNvSpPr txBox="1"/>
          <p:nvPr/>
        </p:nvSpPr>
        <p:spPr>
          <a:xfrm>
            <a:off x="360000" y="4482000"/>
            <a:ext cx="9900000" cy="360000"/>
          </a:xfrm>
          <a:prstGeom prst="rect">
            <a:avLst/>
          </a:prstGeom>
          <a:noFill/>
        </p:spPr>
        <p:txBody>
          <a:bodyPr wrap="square" lIns="36000" rIns="36000">
            <a:spAutoFit/>
          </a:bodyPr>
          <a:lstStyle/>
          <a:p>
            <a:pPr algn="l"/>
            <a:r>
              <a:rPr sz="1400" b="0">
                <a:solidFill>
                  <a:srgbClr val="222222"/>
                </a:solidFill>
                <a:latin typeface="Yu Gothic"/>
                <a:ea typeface="Yu Gothic"/>
              </a:rPr>
              <a:t>8.　家族連絡を施設として統一対応できる</a:t>
            </a:r>
          </a:p>
        </p:txBody>
      </p:sp>
      <p:sp>
        <p:nvSpPr>
          <p:cNvPr id="30" name="Rectangle 29"/>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32" name="TextBox 31"/>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576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16000" y="90000"/>
            <a:ext cx="8640000" cy="396000"/>
          </a:xfrm>
          <a:prstGeom prst="rect">
            <a:avLst/>
          </a:prstGeom>
          <a:noFill/>
        </p:spPr>
        <p:txBody>
          <a:bodyPr wrap="square" lIns="36000" rIns="36000">
            <a:spAutoFit/>
          </a:bodyPr>
          <a:lstStyle/>
          <a:p>
            <a:pPr algn="l"/>
            <a:r>
              <a:rPr sz="2200" b="1">
                <a:solidFill>
                  <a:srgbClr val="FFFFFF"/>
                </a:solidFill>
                <a:latin typeface="Yu Gothic"/>
                <a:ea typeface="Yu Gothic"/>
              </a:rPr>
              <a:t>まとめ・今日から実践すること</a:t>
            </a:r>
          </a:p>
        </p:txBody>
      </p:sp>
      <p:sp>
        <p:nvSpPr>
          <p:cNvPr id="4" name="TextBox 3"/>
          <p:cNvSpPr txBox="1"/>
          <p:nvPr/>
        </p:nvSpPr>
        <p:spPr>
          <a:xfrm>
            <a:off x="9720000" y="108000"/>
            <a:ext cx="2340000" cy="360000"/>
          </a:xfrm>
          <a:prstGeom prst="rect">
            <a:avLst/>
          </a:prstGeom>
          <a:noFill/>
        </p:spPr>
        <p:txBody>
          <a:bodyPr wrap="square" lIns="36000" rIns="36000">
            <a:spAutoFit/>
          </a:bodyPr>
          <a:lstStyle/>
          <a:p>
            <a:pPr algn="r"/>
            <a:r>
              <a:rPr sz="1100" b="0">
                <a:solidFill>
                  <a:srgbClr val="FFFFFF"/>
                </a:solidFill>
                <a:latin typeface="Yu Gothic"/>
                <a:ea typeface="Yu Gothic"/>
              </a:rPr>
              <a:t>7月　みんなの介護ゆうあい</a:t>
            </a:r>
          </a:p>
        </p:txBody>
      </p:sp>
      <p:sp>
        <p:nvSpPr>
          <p:cNvPr id="5" name="TextBox 4"/>
          <p:cNvSpPr txBox="1"/>
          <p:nvPr/>
        </p:nvSpPr>
        <p:spPr>
          <a:xfrm>
            <a:off x="360000" y="792000"/>
            <a:ext cx="11520000" cy="360000"/>
          </a:xfrm>
          <a:prstGeom prst="rect">
            <a:avLst/>
          </a:prstGeom>
          <a:noFill/>
        </p:spPr>
        <p:txBody>
          <a:bodyPr wrap="square" lIns="36000" rIns="36000">
            <a:spAutoFit/>
          </a:bodyPr>
          <a:lstStyle/>
          <a:p>
            <a:pPr algn="l"/>
            <a:r>
              <a:rPr sz="1800" b="1">
                <a:solidFill>
                  <a:srgbClr val="1F4E79"/>
                </a:solidFill>
                <a:latin typeface="Yu Gothic"/>
                <a:ea typeface="Yu Gothic"/>
              </a:rPr>
              <a:t>本日の要点</a:t>
            </a:r>
          </a:p>
        </p:txBody>
      </p:sp>
      <p:sp>
        <p:nvSpPr>
          <p:cNvPr id="6" name="Rectangle 5"/>
          <p:cNvSpPr/>
          <p:nvPr/>
        </p:nvSpPr>
        <p:spPr>
          <a:xfrm>
            <a:off x="396000" y="1368000"/>
            <a:ext cx="180000" cy="18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0000" y="1224000"/>
            <a:ext cx="10980000" cy="468000"/>
          </a:xfrm>
          <a:prstGeom prst="rect">
            <a:avLst/>
          </a:prstGeom>
          <a:noFill/>
        </p:spPr>
        <p:txBody>
          <a:bodyPr wrap="square" lIns="36000" rIns="36000">
            <a:spAutoFit/>
          </a:bodyPr>
          <a:lstStyle/>
          <a:p>
            <a:pPr algn="l"/>
            <a:r>
              <a:rPr sz="1600" b="0">
                <a:solidFill>
                  <a:srgbClr val="222222"/>
                </a:solidFill>
                <a:latin typeface="Yu Gothic"/>
                <a:ea typeface="Yu Gothic"/>
              </a:rPr>
              <a:t>事故は個人のミスではなく仕組みで防ぐ</a:t>
            </a:r>
          </a:p>
        </p:txBody>
      </p:sp>
      <p:sp>
        <p:nvSpPr>
          <p:cNvPr id="8" name="Rectangle 7"/>
          <p:cNvSpPr/>
          <p:nvPr/>
        </p:nvSpPr>
        <p:spPr>
          <a:xfrm>
            <a:off x="396000" y="1836000"/>
            <a:ext cx="180000" cy="18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000" y="1692000"/>
            <a:ext cx="10980000" cy="468000"/>
          </a:xfrm>
          <a:prstGeom prst="rect">
            <a:avLst/>
          </a:prstGeom>
          <a:noFill/>
        </p:spPr>
        <p:txBody>
          <a:bodyPr wrap="square" lIns="36000" rIns="36000">
            <a:spAutoFit/>
          </a:bodyPr>
          <a:lstStyle/>
          <a:p>
            <a:pPr algn="l"/>
            <a:r>
              <a:rPr sz="1600" b="0">
                <a:solidFill>
                  <a:srgbClr val="222222"/>
                </a:solidFill>
                <a:latin typeface="Yu Gothic"/>
                <a:ea typeface="Yu Gothic"/>
              </a:rPr>
              <a:t>ハインリッヒの法則：300のヒヤリが1の重大事故へ</a:t>
            </a:r>
          </a:p>
        </p:txBody>
      </p:sp>
      <p:sp>
        <p:nvSpPr>
          <p:cNvPr id="10" name="Rectangle 9"/>
          <p:cNvSpPr/>
          <p:nvPr/>
        </p:nvSpPr>
        <p:spPr>
          <a:xfrm>
            <a:off x="396000" y="2304000"/>
            <a:ext cx="180000" cy="18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2160000"/>
            <a:ext cx="10980000" cy="468000"/>
          </a:xfrm>
          <a:prstGeom prst="rect">
            <a:avLst/>
          </a:prstGeom>
          <a:noFill/>
        </p:spPr>
        <p:txBody>
          <a:bodyPr wrap="square" lIns="36000" rIns="36000">
            <a:spAutoFit/>
          </a:bodyPr>
          <a:lstStyle/>
          <a:p>
            <a:pPr algn="l"/>
            <a:r>
              <a:rPr sz="1600" b="0">
                <a:solidFill>
                  <a:srgbClr val="222222"/>
                </a:solidFill>
                <a:latin typeface="Yu Gothic"/>
                <a:ea typeface="Yu Gothic"/>
              </a:rPr>
              <a:t>初期対応は『安全確保→バイタル→連絡→記録』</a:t>
            </a:r>
          </a:p>
        </p:txBody>
      </p:sp>
      <p:sp>
        <p:nvSpPr>
          <p:cNvPr id="12" name="Rectangle 11"/>
          <p:cNvSpPr/>
          <p:nvPr/>
        </p:nvSpPr>
        <p:spPr>
          <a:xfrm>
            <a:off x="396000" y="2772000"/>
            <a:ext cx="180000" cy="18000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000" y="2628000"/>
            <a:ext cx="10980000" cy="468000"/>
          </a:xfrm>
          <a:prstGeom prst="rect">
            <a:avLst/>
          </a:prstGeom>
          <a:noFill/>
        </p:spPr>
        <p:txBody>
          <a:bodyPr wrap="square" lIns="36000" rIns="36000">
            <a:spAutoFit/>
          </a:bodyPr>
          <a:lstStyle/>
          <a:p>
            <a:pPr algn="l"/>
            <a:r>
              <a:rPr sz="1600" b="0">
                <a:solidFill>
                  <a:srgbClr val="222222"/>
                </a:solidFill>
                <a:latin typeface="Yu Gothic"/>
                <a:ea typeface="Yu Gothic"/>
              </a:rPr>
              <a:t>家族対応は『早い・正直・明確・具体』</a:t>
            </a:r>
          </a:p>
        </p:txBody>
      </p:sp>
      <p:sp>
        <p:nvSpPr>
          <p:cNvPr id="14" name="Rectangle 13"/>
          <p:cNvSpPr/>
          <p:nvPr/>
        </p:nvSpPr>
        <p:spPr>
          <a:xfrm>
            <a:off x="360000" y="5040000"/>
            <a:ext cx="11484000" cy="1152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3999" y="5112000"/>
            <a:ext cx="11196000" cy="288000"/>
          </a:xfrm>
          <a:prstGeom prst="rect">
            <a:avLst/>
          </a:prstGeom>
          <a:noFill/>
        </p:spPr>
        <p:txBody>
          <a:bodyPr wrap="square" lIns="36000" rIns="36000">
            <a:spAutoFit/>
          </a:bodyPr>
          <a:lstStyle/>
          <a:p>
            <a:pPr algn="l"/>
            <a:r>
              <a:rPr sz="1500" b="1">
                <a:solidFill>
                  <a:srgbClr val="1F4E79"/>
                </a:solidFill>
                <a:latin typeface="Yu Gothic"/>
                <a:ea typeface="Yu Gothic"/>
              </a:rPr>
              <a:t>明日からの行動目標</a:t>
            </a:r>
          </a:p>
        </p:txBody>
      </p:sp>
      <p:sp>
        <p:nvSpPr>
          <p:cNvPr id="16" name="TextBox 15"/>
          <p:cNvSpPr txBox="1"/>
          <p:nvPr/>
        </p:nvSpPr>
        <p:spPr>
          <a:xfrm>
            <a:off x="503999" y="5436000"/>
            <a:ext cx="11196000" cy="720000"/>
          </a:xfrm>
          <a:prstGeom prst="rect">
            <a:avLst/>
          </a:prstGeom>
          <a:noFill/>
        </p:spPr>
        <p:txBody>
          <a:bodyPr wrap="square" lIns="36000" rIns="36000">
            <a:spAutoFit/>
          </a:bodyPr>
          <a:lstStyle/>
          <a:p>
            <a:pPr algn="l"/>
            <a:r>
              <a:rPr sz="1400" b="0">
                <a:solidFill>
                  <a:srgbClr val="222222"/>
                </a:solidFill>
                <a:latin typeface="Yu Gothic"/>
                <a:ea typeface="Yu Gothic"/>
              </a:rPr>
              <a:t>① 今月、ヒヤリハット報告を全職員1件以上提出する。② 配薬時の5R確認をダブルチェックで徹底する。③ 食事介助中は利用者の表情・SpO2に注意し、むせたら即中止する。④ 転倒リスクの高い利用者を再評価し、夜間巡視を見直す。</a:t>
            </a:r>
          </a:p>
        </p:txBody>
      </p:sp>
      <p:sp>
        <p:nvSpPr>
          <p:cNvPr id="17" name="Rectangle 16"/>
          <p:cNvSpPr/>
          <p:nvPr/>
        </p:nvSpPr>
        <p:spPr>
          <a:xfrm>
            <a:off x="0" y="6623999"/>
            <a:ext cx="12193200" cy="216000"/>
          </a:xfrm>
          <a:prstGeom prst="rect">
            <a:avLst/>
          </a:prstGeom>
          <a:solidFill>
            <a:srgbClr val="E7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6000" y="6642000"/>
            <a:ext cx="7200000" cy="180000"/>
          </a:xfrm>
          <a:prstGeom prst="rect">
            <a:avLst/>
          </a:prstGeom>
          <a:noFill/>
        </p:spPr>
        <p:txBody>
          <a:bodyPr wrap="square" lIns="36000" rIns="36000">
            <a:spAutoFit/>
          </a:bodyPr>
          <a:lstStyle/>
          <a:p>
            <a:pPr algn="l"/>
            <a:r>
              <a:rPr sz="900" b="0">
                <a:solidFill>
                  <a:srgbClr val="555555"/>
                </a:solidFill>
                <a:latin typeface="Yu Gothic"/>
                <a:ea typeface="Yu Gothic"/>
              </a:rPr>
              <a:t>みんなの介護ゆうあい</a:t>
            </a:r>
          </a:p>
        </p:txBody>
      </p:sp>
      <p:sp>
        <p:nvSpPr>
          <p:cNvPr id="19" name="TextBox 18"/>
          <p:cNvSpPr txBox="1"/>
          <p:nvPr/>
        </p:nvSpPr>
        <p:spPr>
          <a:xfrm>
            <a:off x="9720000" y="6642000"/>
            <a:ext cx="2268000" cy="180000"/>
          </a:xfrm>
          <a:prstGeom prst="rect">
            <a:avLst/>
          </a:prstGeom>
          <a:noFill/>
        </p:spPr>
        <p:txBody>
          <a:bodyPr wrap="square" lIns="36000" rIns="36000">
            <a:spAutoFit/>
          </a:bodyPr>
          <a:lstStyle/>
          <a:p>
            <a:pPr algn="r"/>
            <a:r>
              <a:rPr sz="900" b="0">
                <a:solidFill>
                  <a:srgbClr val="555555"/>
                </a:solidFill>
                <a:latin typeface="Yu Gothic"/>
                <a:ea typeface="Yu Gothic"/>
              </a:rP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2160000"/>
            <a:ext cx="11088000" cy="1080000"/>
          </a:xfrm>
          <a:prstGeom prst="rect">
            <a:avLst/>
          </a:prstGeom>
          <a:noFill/>
        </p:spPr>
        <p:txBody>
          <a:bodyPr wrap="square" lIns="36000" rIns="36000">
            <a:spAutoFit/>
          </a:bodyPr>
          <a:lstStyle/>
          <a:p>
            <a:pPr algn="ctr"/>
            <a:r>
              <a:rPr sz="6000" b="1">
                <a:solidFill>
                  <a:srgbClr val="FFFFFF"/>
                </a:solidFill>
                <a:latin typeface="Yu Gothic"/>
                <a:ea typeface="Yu Gothic"/>
              </a:rPr>
              <a:t>質疑応答</a:t>
            </a:r>
          </a:p>
        </p:txBody>
      </p:sp>
      <p:sp>
        <p:nvSpPr>
          <p:cNvPr id="4" name="TextBox 3"/>
          <p:cNvSpPr txBox="1"/>
          <p:nvPr/>
        </p:nvSpPr>
        <p:spPr>
          <a:xfrm>
            <a:off x="540000" y="3600000"/>
            <a:ext cx="11088000" cy="540000"/>
          </a:xfrm>
          <a:prstGeom prst="rect">
            <a:avLst/>
          </a:prstGeom>
          <a:noFill/>
        </p:spPr>
        <p:txBody>
          <a:bodyPr wrap="square" lIns="36000" rIns="36000">
            <a:spAutoFit/>
          </a:bodyPr>
          <a:lstStyle/>
          <a:p>
            <a:pPr algn="ctr"/>
            <a:r>
              <a:rPr sz="2200" b="0">
                <a:solidFill>
                  <a:srgbClr val="EEEEEE"/>
                </a:solidFill>
                <a:latin typeface="Yu Gothic"/>
                <a:ea typeface="Yu Gothic"/>
              </a:rPr>
              <a:t>ご清聴ありがとうございました</a:t>
            </a:r>
          </a:p>
        </p:txBody>
      </p:sp>
      <p:sp>
        <p:nvSpPr>
          <p:cNvPr id="5" name="TextBox 4"/>
          <p:cNvSpPr txBox="1"/>
          <p:nvPr/>
        </p:nvSpPr>
        <p:spPr>
          <a:xfrm>
            <a:off x="540000" y="5760000"/>
            <a:ext cx="11088000" cy="288000"/>
          </a:xfrm>
          <a:prstGeom prst="rect">
            <a:avLst/>
          </a:prstGeom>
          <a:noFill/>
        </p:spPr>
        <p:txBody>
          <a:bodyPr wrap="square" lIns="36000" rIns="36000">
            <a:spAutoFit/>
          </a:bodyPr>
          <a:lstStyle/>
          <a:p>
            <a:pPr algn="ctr"/>
            <a:r>
              <a:rPr sz="1200" b="0">
                <a:solidFill>
                  <a:srgbClr val="DDDDDD"/>
                </a:solidFill>
                <a:latin typeface="Yu Gothic"/>
                <a:ea typeface="Yu Gothic"/>
              </a:rPr>
              <a:t>7月　事故防止　／　みんなの介護ゆうあい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