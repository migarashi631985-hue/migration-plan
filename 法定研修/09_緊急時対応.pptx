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月の職員研修を始めます。本日のテーマは、緊急時対応です。介護現場では、意識消失、心肺停止、窒息、転倒外傷、急な体調変化など、いつ緊急事態が起こるかわかりません。もしそのとき、あなたがその場にいたらどうしますか？今日は、その『いざ』に備える基本を、一緒に確認し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到達目標は、次の5つです。1つ目、緊急時の初動フロー、DRABCとBLSの流れを説明できること。2つ目、心肺蘇生法、CPRとAEDの使い方の基本を理解すること。3つ目、窒息時の応急処置、背部叩打法とハイムリック法を説明できること。4つ目、施設内の緊急連絡体制、医療機関・家族への連絡手順を把握すること。5つ目、日常的な備え、救急カート、AED、連絡表の位置と内容を確認できる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、介護施設で想定される緊急事態を整理します。医療的な緊急。心肺停止、意識消失、窒息、脳卒中、てんかん発作、急性心筋梗塞、大量出血、骨折、火傷。行動的な緊急。転倒転落、暴力行為、離設、不明。施設的な緊急。火災、地震、停電、断水、感染症アウトブレイク。本日は特に、医療的緊急への初動対応を中心に学びます。火災・地震は、12月の災害対策の回で詳しく扱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初動対応の基本を示す、DRABCを紹介します。D、デンジャー。安全の確認。R、レスポンス。意識の確認。A、エアウェイ。気道の確保。B、ブリージング。呼吸の確認。C、サーキュレーション。循環の確認、心肺蘇生の判断。この順番で、落ち着いて見ていけば、パニックにならずに対応で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見時の最初の行動を確認します。1つ目、大声で応援を呼ぶ。1人で対応しない。2つ目、119番、または、施設の緊急連絡フローを発動。3つ目、AEDを持ってきてもらうよう指示。誰かが応援に来るまで、動かない、ではなく、来てもらうためにすぐ声を出す、これが鉄則です。1人で抱え込むことが、最も命を危険にさら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心肺蘇生、CPRの基本です。意識がなく、呼吸がない、または、あえぎ呼吸のとき、直ちに胸骨圧迫を開始します。胸の中央、乳頭を結ぶ線、胸骨の下半分。圧迫の深さ、約5センチ、小柄な方は4から6センチを目安。圧迫のテンポ、1分間に100から120回。曲『アンパンマンのマーチ』『うさぎとかめ』のテンポが目安。人工呼吸ができる場合は、30対2。できない・感染リスクがあるときは、圧迫のみを続け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ED、自動体外式除細動器の使い方を確認します。ステップ1、電源を入れる。ふたを開けると自動で電源が入る機種もあります。ステップ2、パッドを貼る。右胸の上と、左わき腹。ステップ3、解析中は体に触れない。ステップ4、ショック指示が出たら、周囲に離れるよう声をかけてから、ボタンを押す。ステップ5、ショック後、ただちに胸骨圧迫を再開。AEDは、迷わず指示に従えば、素人でも安全に使えます。音声ガイダンスに従うだけ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窒息時の応急処置です。意識があり、声も出せない、顔を苦しそうに押さえているサイン、チョーキングサイン、を見たら、直ちに対応します。まず、背部叩打法。背中、肩甲骨の間を、手の付け根で5回強く叩く。次に、腹部突き上げ法、ハイムリック法。うしろから手を回し、みぞおちの下を強く上方向に突き上げる。妊婦や乳児、意識のない人には、別の手技が必要です。異物が取れるまで、または意識がなくなるまで、繰り返します。意識がなくなったらCPRに切り替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事例を見ていきます。1つ目、心肺停止の発見です。食堂で、利用者Wさんが突然崩れ落ち、床で倒れた。職員Aが駆け寄り、声をかけても反応がなく、呼吸も弱々しい。あなたなら、何秒以内に、何をしますか。応援を呼ぶ、AEDを持ってくる指示、胸骨圧迫の開始、救急要請、家族への連絡。これらを誰が、どの順で行うか、シミュレーションしてみ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つ目、脳卒中を疑う場面です。利用者Xさんが、急に会話が噛み合わなくなり、片側の口角が下がり、右手が動きにくくなりました。職員Bは、『そのうち落ち着く』と様子を見て、30分経って看護師に報告。脳卒中は時間との勝負です。FASTサイン、顔のゆがみ、腕の脱力、言葉の乱れ、があれば、即救急要請。発症から4.5時間以内にt-PA治療を受けられれば、後遺症を大きく減らせ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つ目、食事中の窒息です。昼食中、利用者Yさんが突然、顔を真っ赤にして喉を押さえ、声が出なくなった。職員Cは、まず何をすべきでしょうか。声をかけても反応がない、または、咳ができない場合は、窒息と判断。すぐに応援を呼び、背部叩打法、ハイムリック法を繰り返します。意識がなくなったら、床に寝かせ、気道を確保し、CPRに切り替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施設内の緊急連絡体制を整理します。第一報、発見者から、ユニットリーダー、施設長、看護師、夜間は当直責任者。医療連絡、嘱託医、協力病院、救急。家族連絡、キーパーソン、第2連絡先。行政連絡、事故・重大事案は市町村への報告。この連絡網の連絡先リストを、各ステーション、各階、夜勤室に、紙で掲示しておくことが重要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119番通報時の伝え方のコツです。伝える内容。場所、施設名と住所、部屋番号。容態、意識・呼吸・出血・症状の始まった時間。年齢・性別。持病、服薬、ペースメーカーの有無。処置中の内容、CPR、AED実施中など。電話を切らない。指令員の指示に従いながら、処置を継続する。到着まで何分かかるか確認し、入口で救急隊を誘導する職員を配置することも大切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施設に配備すべき、救急関連物品を確認します。AED。場所、使用期限、パッドの期限を毎月点検。救急カート。血圧計、パルスオキシメーター、聴診器、酸素、吸引器、ガーゼ、手袋。応急処置キット。包帯、三角巾、副木、消毒液、冷却剤。緊急連絡リスト。嘱託医、協力病院、家族、各利用者のキーパーソン。どこに何があるか、全職員がすぐわかるようにしてお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つ目、転倒外傷の事例です。利用者Zさんが浴室前で転倒、頭部を強く打ち、一時的に意識を失いました。10秒ほどで意識は回復しましたが、軽い頭痛と吐き気を訴えています。職員Dは、『意識戻ったし、大丈夫そう』と、居室に戻そうとしました。しかし、頭部打撲は、数時間後に慢性硬膜下血腫や脳内出血を起こすことがあります。打撲後24から48時間は、意識レベル、瞳孔、麻痺、嘔吐の有無を慎重に観察する必要が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頃のシミュレーション訓練の重要性について話します。年2回以上、施設全体でシナリオ訓練を行うことを推奨します。朝、昼、夜、それぞれの時間帯で、人員配置も変えて実施。役割分担を事前に決めすぎず、誰がどの役割もできるようにローテーションしながら訓練。『頭で覚える』のではなく、『身体が動く』まで繰り返すことが、本番で役に立ち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緊急時のご家族連絡について触れます。原則は、発生後できるだけ早く、事実を簡潔に伝える。連絡内容。いつ、どこで、どんな事態が起きたか。今どこにいるか、搬送先。現在の容態。憶測や余計な情報は避ける。事実のみを伝える。家族が動揺される場合、繰り返し、わかりやすい言葉で伝える。来院される際の、ルート、連絡先、駐車場、など実務情報も案内し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己チェックに進みます。8項目について、できている、ときどき、できていない、の3段階で振り返ってください。今できないものがあっても、訓練で身につけられます。『知っている』と『動ける』の差を、埋めてい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まとめです。初動の基本はDRABC、応援を呼ぶ、AEDを持ってくる指示。CPRは1分間100から120回、強く、速く、絶え間なく。窒息は、背部叩打、ハイムリック、意識なければCPR。脳卒中はFASTサインで即救急要請。4.5時間の壁を意識。頭部打撲は24から48時間の観察が必要。家族連絡は早く、事実のみ、簡潔に。明日からの行動として、AEDの場所を再確認、救急連絡リストの最新化、CPR講習への参加、この3点を意識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研修は以上です。ご清聴ありがとうございました。緊急時対応は、訓練で差がつきます。現場での疑問、実際に経験した場面の振り返り、質問があれば、どうぞ。次回のシミュレーション訓練のテーマも、一緒に考えてい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40000"/>
            <a:ext cx="121932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576000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9月　職員研修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484000"/>
            <a:ext cx="11088000" cy="7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4000" b="1">
                <a:solidFill>
                  <a:srgbClr val="1F4E79"/>
                </a:solidFill>
                <a:latin typeface="Yu Gothic"/>
                <a:ea typeface="Yu Gothic"/>
              </a:rPr>
              <a:t>緊急時対応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528000"/>
            <a:ext cx="11088000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Yu Gothic"/>
                <a:ea typeface="Yu Gothic"/>
              </a:rPr>
              <a:t>DRABC・CPR・連絡体制を身体で覚える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4860000"/>
            <a:ext cx="11088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5400000"/>
            <a:ext cx="11088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EEEEEE"/>
                </a:solidFill>
                <a:latin typeface="Yu Gothic"/>
                <a:ea typeface="Yu Gothic"/>
              </a:rPr>
              <a:t>実施方法：集合研修＋実技訓練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5760000"/>
            <a:ext cx="11088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200" b="0">
                <a:solidFill>
                  <a:srgbClr val="DDDDDD"/>
                </a:solidFill>
                <a:latin typeface="Yu Gothic"/>
                <a:ea typeface="Yu Gothic"/>
              </a:rPr>
              <a:t>進行：＿＿＿＿＿（施設内担当）　　日時：＿＿＿＿＿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本日の目的と到達目標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9月　みんなの介護ゆうあい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92000"/>
            <a:ext cx="1152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Yu Gothic"/>
                <a:ea typeface="Yu Gothic"/>
              </a:rPr>
              <a:t>この研修が終わったとき、受講者は次ができるようになります。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440000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1440000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458000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初動フロー（DRABC）を説明できる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015999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2015999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000" y="2033999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CPR・AED の手順を理解し実施できる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2591999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00" y="2591999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6000" y="2609999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窒息時の応急処置（背部叩打・ハイムリック）を説明できる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3167999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" y="3167999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000" y="3186000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施設の緊急連絡体制を把握している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3743999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000" y="3743999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000" y="3761999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救急カート・AED・連絡表の位置と内容を確認できる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1. 想定される緊急事態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9月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5580000" cy="39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医療的緊急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5580000" cy="450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・心肺停止・意識消失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・窒息・誤嚥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・脳卒中（FAST サイン）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・急性心筋梗塞・大量出血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・てんかん発作・骨折・火傷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8000" y="864000"/>
            <a:ext cx="5580000" cy="396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行動的・施設的緊急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8000" y="1260000"/>
            <a:ext cx="5580000" cy="450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・転倒転落／暴力行為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・離設・行方不明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・火災・地震（12月で詳述）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・停電・断水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・感染症アウトブレイク（6月）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2. 初動の基本 DRABC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9月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D：Danger  安全の確認（二次被害を防ぐ）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R：Response  意識の確認（呼びかけ・肩叩き）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A：Airway  気道の確保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B：Breathing  呼吸の確認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C：Circulation  循環の確認／CPRの判断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354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000" y="338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順に落ち着いて確認すればパニックになりにくい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3. 発見時の最初の行動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9月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① 大声で応援を呼ぶ（1人で対応しない）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② 119番または施設の緊急連絡フローを発動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③ AEDを持ってきてもらうよう指示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④ 誰が何をするか即座に役割分担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『抱え込み』こそが最大のリスク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5832000"/>
            <a:ext cx="11484000" cy="612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999" y="5886000"/>
            <a:ext cx="11160000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Yu Gothic"/>
                <a:ea typeface="Yu Gothic"/>
              </a:rPr>
              <a:t>▶ 最初の30秒で『応援・119・AED』を同時に動かす。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4. 心肺蘇生（CPR）の手順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9月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5580000" cy="39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胸骨圧迫の基本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5580000" cy="450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・胸の中央（乳頭線上・胸骨下半分）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・深さ：約5cm（4〜6cm）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・テンポ：100〜120回/分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・絶え間なく継続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・疲れる前に交代（2分を目安）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8000" y="864000"/>
            <a:ext cx="5580000" cy="396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呼吸の有無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8000" y="1260000"/>
            <a:ext cx="5580000" cy="450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・あえぎ呼吸は『呼吸なし』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・不明なら CPR 開始が原則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・口対口が困難なら圧迫のみ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・AED 到着までCPR継続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・AED 解析中は手を離す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5. AED の使い方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9月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① 電源を入れる（ふたを開けると自動ONの機種も）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② パッドを貼る（右胸上・左わき腹）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③ 解析中は体に触れない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④ ショック指示なら『離れて！』→ ボタンを押す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⑤ ショック後はただちにCPR再開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354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000" y="338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音声ガイダンスに従えば素人でも安全に使える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6. 窒息時の応急処置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9月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5580000" cy="39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サインと判断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5580000" cy="450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・声が出ない／咳ができない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・喉を押さえる（チョーキングサイン）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・顔面蒼白・紫色（チアノーゼ）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・意識低下の兆候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・判断に迷ったら即実施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8000" y="864000"/>
            <a:ext cx="5580000" cy="396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実施の手順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8000" y="1260000"/>
            <a:ext cx="5580000" cy="450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・背部叩打法：肩甲骨間を5回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・ハイムリック法：みぞおちを上方向へ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・交互に繰り返し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・妊婦・乳児は別手技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・意識なくなれば CPR に切替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7. 事例① 心肺停止の発見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9月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48400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116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事例（グループ討議用）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84000" cy="216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332000"/>
            <a:ext cx="11196000" cy="20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食堂で利用者Wさんが突然崩れ落ち、床で倒れた。職員Aが駆け寄り、声をかけても反応がなく、呼吸も弱々しい。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00000"/>
            <a:ext cx="11484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960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Q1.　最初の30秒で何をしますか？役割分担はどうしますか？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4392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Q2.　CPRは誰が、どのタイミングで交代しますか？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4823999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Q3.　救急隊到着までの流れ（連絡・誘導・記録）を整理してください。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8. 事例② 脳卒中疑い（FAST）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9月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48400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116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事例（グループ討議用）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84000" cy="216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332000"/>
            <a:ext cx="11196000" cy="20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利用者Xさんが急に会話が噛み合わなくなり、片側の口角が下がり、右手が動きにくくなった。職員Bは『そのうち落ち着く』と様子を見て、30分経ってから看護師に報告。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00000"/>
            <a:ext cx="11484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960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Q1.　FASTサイン（Face/Arm/Speech/Time）を言えますか？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4392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Q2.　なぜ『4.5時間の壁』が重要なのですか？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4823999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Q3.　『様子を見る』で失われるものは何ですか？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9. 事例③ 食事中の窒息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9月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48400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116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事例（グループ討議用）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84000" cy="216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332000"/>
            <a:ext cx="11196000" cy="20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昼食中、利用者Yさんが突然顔を真っ赤にして喉を押さえ、声が出なくなった。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00000"/>
            <a:ext cx="11484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960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Q1.　窒息と判断する根拠は？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4392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Q2.　背部叩打法とハイムリック法の順序・要領を説明してください。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4823999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Q3.　意識がなくなったらどうしますか？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10. 施設内の緊急連絡体制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9月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第一報：発見者 → ユニットリーダー・施設長・看護師（夜間は当直責任者）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医療連絡：嘱託医・協力病院・救急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家族連絡：キーパーソン・第2連絡先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行政連絡：重大事案は市町村へ報告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連絡先リストは各ステーション・各階・夜勤室に紙で掲示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11. 119番通報時の伝え方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9月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場所：施設名・住所・部屋番号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容態：意識／呼吸／出血／症状発症時刻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年齢・性別・持病・服薬・ペースメーカー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処置中の内容：CPR／AED 実施中など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電話を切らず指令員の指示に従う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354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000" y="338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入口で救急隊を誘導する職員を配置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12. 救急関連物品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9月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5580000" cy="39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AED・救急カート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5580000" cy="450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・AED の場所・使用期限・パッド期限（毎月点検）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・血圧計・SpO2計・聴診器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・酸素・吸引器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・ガーゼ・手袋・駆血帯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・体温計・電子記録端末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8000" y="864000"/>
            <a:ext cx="5580000" cy="396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応急処置キット・書類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8000" y="1260000"/>
            <a:ext cx="5580000" cy="450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・包帯・三角巾・副木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・消毒液・冷却剤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・緊急連絡リスト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・各利用者のキーパーソン一覧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・服薬・既往歴の要約シート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13. 事例④ 転倒後の頭部打撲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9月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48400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116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事例（グループ討議用）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84000" cy="216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332000"/>
            <a:ext cx="11196000" cy="20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利用者Zさんが浴室前で転倒し頭部を強打、一時的に意識を失ったが10秒で回復。軽い頭痛と吐き気を訴えている。職員Dは『意識戻ったし大丈夫』と居室に戻そうとした。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00000"/>
            <a:ext cx="11484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960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Q1.　この判断は適切ですか？リスクは？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4392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Q2.　頭部打撲後の観察項目（24〜48時間）を挙げてください。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4823999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Q3.　看護師・嘱託医・家族への連絡基準をどう決めますか？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14. シミュレーション訓練の重要性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9月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年2回以上、施設全体でシナリオ訓練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朝・昼・夜の時間帯別・人員配置別に実施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役割固定ではなく、誰もがどの役割もこなせるローテーション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『頭で覚える』を『体が動く』まで反復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訓練後にデブリーフィング（振り返り）を必ず行う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15. ご家族への緊急連絡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9月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発生後できるだけ早く、事実を簡潔に伝える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内容：発生時刻／場所／事態／現所在地（搬送先）／容態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憶測や余計な情報は避け、事実のみを伝える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来院時のルート・駐車場・連絡先も案内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動揺される家族へは、繰り返しわかりやすく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自己チェック（受講後に記入）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9月　みんなの介護ゆうあい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92000"/>
            <a:ext cx="1152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Yu Gothic"/>
                <a:ea typeface="Yu Gothic"/>
              </a:rPr>
              <a:t>できている=◎　ときどき=○　できていない=△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40000" y="129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40000" y="135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33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1.　DRABC を順に説明できる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40000" y="1745999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40000" y="180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178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2.　CPR の深さ・テンポを体で覚えている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40000" y="219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40000" y="225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223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3.　AED の設置場所と使い方を知っている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40000" y="264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40000" y="270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268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4.　窒息時の背部叩打・ハイムリックを実施できる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40000" y="309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40000" y="315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3131999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5.　FAST サインで脳卒中を疑える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40000" y="354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40000" y="360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000" y="3581999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6.　施設の緊急連絡フローを掲示で確認できる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40000" y="399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40000" y="405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000" y="4031999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7.　119番通報で伝える内容を順に言える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40000" y="444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40000" y="450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000" y="448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8.　頭部打撲後の観察項目を挙げられる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まとめ・今日から実践すること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9月　みんなの介護ゆうあい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92000"/>
            <a:ext cx="1152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Yu Gothic"/>
                <a:ea typeface="Yu Gothic"/>
              </a:rPr>
              <a:t>本日の要点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1368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1224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初動は DRABC。応援・119・AED を同時に動かす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396000" y="1836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692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CPR は 100〜120回/分、強く・速く・絶え間なく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000" y="2304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2160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窒息は背部叩打 → ハイムリック → 意識消失で CPR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2772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2628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脳卒中は FAST サインで即救急要請（4.5時間の壁）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000" y="3240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00" y="3096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頭部打撲は 24〜48時間の観察が必要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5040000"/>
            <a:ext cx="11484000" cy="1152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3999" y="5112000"/>
            <a:ext cx="11196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明日からの行動目標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3999" y="5436000"/>
            <a:ext cx="11196000" cy="7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① AED の場所と使用期限を今週中に確認する。② 救急連絡リストを最新版に更新する。③ CPR 講習・シミュレーション訓練に年1回以上参加する。④ 『応援を呼ぶ』第一声を声に出して練習する。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160000"/>
            <a:ext cx="11088000" cy="10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Yu Gothic"/>
                <a:ea typeface="Yu Gothic"/>
              </a:rPr>
              <a:t>質疑応答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600000"/>
            <a:ext cx="11088000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200" b="0">
                <a:solidFill>
                  <a:srgbClr val="EEEEEE"/>
                </a:solidFill>
                <a:latin typeface="Yu Gothic"/>
                <a:ea typeface="Yu Gothic"/>
              </a:rPr>
              <a:t>ご清聴ありがとうございました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5760000"/>
            <a:ext cx="11088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200" b="0">
                <a:solidFill>
                  <a:srgbClr val="DDDDDD"/>
                </a:solidFill>
                <a:latin typeface="Yu Gothic"/>
                <a:ea typeface="Yu Gothic"/>
              </a:rPr>
              <a:t>9月　緊急時対応　／　みんなの介護ゆうあい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